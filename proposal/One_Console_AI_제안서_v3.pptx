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1737360"/>
            <a:ext cx="3383280" cy="3383280"/>
          </a:xfrm>
          <a:prstGeom prst="ellipse">
            <a:avLst/>
          </a:prstGeom>
          <a:noFill/>
          <a:ln w="1778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90888" y="1664208"/>
            <a:ext cx="146304" cy="14630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82528" y="335584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90888" y="5047488"/>
            <a:ext cx="146304" cy="146304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99248" y="3355848"/>
            <a:ext cx="146304" cy="146304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3136392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00" b="0">
                <a:solidFill>
                  <a:srgbClr val="86868B"/>
                </a:solidFill>
                <a:latin typeface="맑은 고딕"/>
                <a:ea typeface="맑은 고딕"/>
              </a:rPr>
              <a:t>지식 → Agent →</a:t>
            </a:r>
          </a:p>
          <a:p>
            <a:pPr algn="ctr">
              <a:lnSpc>
                <a:spcPct val="118000"/>
              </a:lnSpc>
            </a:pPr>
            <a:r>
              <a:rPr sz="1100" b="0">
                <a:solidFill>
                  <a:srgbClr val="86868B"/>
                </a:solidFill>
                <a:latin typeface="맑은 고딕"/>
                <a:ea typeface="맑은 고딕"/>
              </a:rPr>
              <a:t>운영 → 개선 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37160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380744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ITCEN 신사업 공모전 · 아이디어 제안서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48840"/>
            <a:ext cx="8229600" cy="126274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800" b="1" spc="-110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0" spc="-40">
                <a:solidFill>
                  <a:srgbClr val="CCCCCC"/>
                </a:solidFill>
                <a:latin typeface="맑은 고딕"/>
                <a:ea typeface="맑은 고딕"/>
              </a:rPr>
              <a:t>AI Agent 통합 형상관리 플랫폼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69080"/>
            <a:ext cx="566928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50" b="0">
                <a:solidFill>
                  <a:srgbClr val="86868B"/>
                </a:solidFill>
                <a:latin typeface="맑은 고딕"/>
                <a:ea typeface="맑은 고딕"/>
              </a:rPr>
              <a:t>현장에서 반복된 문제로 시작해, 검증된 해결책을 거쳐, 사업이 됩니다.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2026. 07   ·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네 가지 심사 기준에, 네 줄로 답합니다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81328"/>
            <a:ext cx="3645301" cy="457200"/>
          </a:xfrm>
          <a:prstGeom prst="roundRect">
            <a:avLst>
              <a:gd name="adj" fmla="val 16666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36192"/>
            <a:ext cx="364530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35</a:t>
            </a: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  문제 발굴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13981" y="1481328"/>
            <a:ext cx="3118012" cy="457200"/>
          </a:xfrm>
          <a:prstGeom prst="roundRect">
            <a:avLst>
              <a:gd name="adj" fmla="val 16666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3981" y="1536192"/>
            <a:ext cx="31180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30</a:t>
            </a: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  솔루션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77713" y="1481328"/>
            <a:ext cx="2063435" cy="457200"/>
          </a:xfrm>
          <a:prstGeom prst="roundRect">
            <a:avLst>
              <a:gd name="adj" fmla="val 16666"/>
            </a:avLst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7713" y="1536192"/>
            <a:ext cx="20634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  사업화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6868" y="1481328"/>
            <a:ext cx="1536146" cy="457200"/>
          </a:xfrm>
          <a:prstGeom prst="roundRect">
            <a:avLst>
              <a:gd name="adj" fmla="val 16666"/>
            </a:avLst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6868" y="1536192"/>
            <a:ext cx="15361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  실행력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71455" y="117043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100점 만점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212848"/>
            <a:ext cx="5138928" cy="1938528"/>
          </a:xfrm>
          <a:prstGeom prst="roundRect">
            <a:avLst>
              <a:gd name="adj" fmla="val 88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468880"/>
            <a:ext cx="1143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00" b="1" spc="-100">
                <a:solidFill>
                  <a:srgbClr val="0066CC"/>
                </a:solidFill>
                <a:latin typeface="맑은 고딕"/>
                <a:ea typeface="맑은 고딕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487168"/>
            <a:ext cx="340156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문제 발굴 · Industry Insight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프로젝트마다 처음부터 다시 만드는 기업 AI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212848"/>
            <a:ext cx="5138928" cy="1938528"/>
          </a:xfrm>
          <a:prstGeom prst="roundRect">
            <a:avLst>
              <a:gd name="adj" fmla="val 88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468880"/>
            <a:ext cx="1143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00" b="1" spc="-100">
                <a:solidFill>
                  <a:srgbClr val="0066CC"/>
                </a:solidFill>
                <a:latin typeface="맑은 고딕"/>
                <a:ea typeface="맑은 고딕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487168"/>
            <a:ext cx="340156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솔루션 유효성 · 차별성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하나의 콘솔로 지식 · 형상 · 운영을 통합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아이디어가 아니라 이미 동작하는 MVP — 콘솔 + REST API + 개선 루프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5138928" cy="1938528"/>
          </a:xfrm>
          <a:prstGeom prst="roundRect">
            <a:avLst>
              <a:gd name="adj" fmla="val 88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645152"/>
            <a:ext cx="1143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00" b="1" spc="-100">
                <a:solidFill>
                  <a:srgbClr val="0066CC"/>
                </a:solidFill>
                <a:latin typeface="맑은 고딕"/>
                <a:ea typeface="맑은 고딕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663440"/>
            <a:ext cx="340156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사업화 가능성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구축 → 구독 → 운영으로 쌓이는 반복 매출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아이티센 그룹 고객망이 곧 판로 — SI 본업과 같은 딜리버리 구조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4389120"/>
            <a:ext cx="5138928" cy="1938528"/>
          </a:xfrm>
          <a:prstGeom prst="roundRect">
            <a:avLst>
              <a:gd name="adj" fmla="val 884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4645152"/>
            <a:ext cx="1143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700" b="1" spc="-100">
                <a:solidFill>
                  <a:srgbClr val="0066CC"/>
                </a:solidFill>
                <a:latin typeface="맑은 고딕"/>
                <a:ea typeface="맑은 고딕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8" y="4663440"/>
            <a:ext cx="3401568" cy="143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실행력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선정 다음 날부터 파일럿 준비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현장의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“N번째 프로젝트에서, 같은 것을 또 만들고 있었다.”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943600" cy="3931920"/>
          </a:xfrm>
          <a:prstGeom prst="roundRect">
            <a:avLst>
              <a:gd name="adj" fmla="val 436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470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프로젝트를 거듭해도 — 비용은 다시 들고, 자산은 남지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4800600"/>
            <a:ext cx="5120640" cy="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34440" y="2148840"/>
            <a:ext cx="0" cy="265176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417320" y="3720693"/>
            <a:ext cx="1165860" cy="448056"/>
          </a:xfrm>
          <a:prstGeom prst="line">
            <a:avLst/>
          </a:prstGeom>
          <a:ln w="27940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583180" y="3272637"/>
            <a:ext cx="1165860" cy="448056"/>
          </a:xfrm>
          <a:prstGeom prst="line">
            <a:avLst/>
          </a:prstGeom>
          <a:ln w="27940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49040" y="2824581"/>
            <a:ext cx="1165860" cy="448056"/>
          </a:xfrm>
          <a:prstGeom prst="line">
            <a:avLst/>
          </a:prstGeom>
          <a:ln w="27940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914900" y="2376525"/>
            <a:ext cx="1165860" cy="448056"/>
          </a:xfrm>
          <a:prstGeom prst="line">
            <a:avLst/>
          </a:prstGeom>
          <a:ln w="27940">
            <a:solidFill>
              <a:srgbClr val="7A7A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376172" y="4127601"/>
            <a:ext cx="82296" cy="8229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542032" y="3679545"/>
            <a:ext cx="82296" cy="8229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07892" y="3231489"/>
            <a:ext cx="82296" cy="8229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73752" y="2783433"/>
            <a:ext cx="82296" cy="8229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9612" y="2335377"/>
            <a:ext cx="82296" cy="8229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1417320" y="4415180"/>
            <a:ext cx="1165860" cy="22403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83180" y="4415180"/>
            <a:ext cx="1165860" cy="22403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749040" y="4415180"/>
            <a:ext cx="1165860" cy="22403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14900" y="4415180"/>
            <a:ext cx="1165860" cy="22403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376172" y="4396435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42032" y="4374032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07892" y="4396435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73752" y="4374032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39612" y="4396435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21671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누적 투입 비용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2336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남는 조직 자산 ≈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8737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프로젝트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25980" y="48737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8737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7700" y="48737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4873752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… 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691640"/>
            <a:ext cx="4325112" cy="1225296"/>
          </a:xfrm>
          <a:prstGeom prst="roundRect">
            <a:avLst>
              <a:gd name="adj" fmla="val 139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60920" y="1874520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A7A7A"/>
                </a:solidFill>
                <a:latin typeface="맑은 고딕"/>
                <a:ea typeface="맑은 고딕"/>
              </a:rPr>
              <a:t>✕ 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전처리 파이프라인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프로젝트마다 재개발 — 노하우가 코드와 함께 소멸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3044952"/>
            <a:ext cx="4325112" cy="1225296"/>
          </a:xfrm>
          <a:prstGeom prst="roundRect">
            <a:avLst>
              <a:gd name="adj" fmla="val 139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3227832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A7A7A"/>
                </a:solidFill>
                <a:latin typeface="맑은 고딕"/>
                <a:ea typeface="맑은 고딕"/>
              </a:rPr>
              <a:t>✕ 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프롬프트 · 검색 설정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위키·메모·머릿속에 산재 — 담당자가 단일 장애점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398264"/>
            <a:ext cx="4325112" cy="1225296"/>
          </a:xfrm>
          <a:prstGeom prst="roundRect">
            <a:avLst>
              <a:gd name="adj" fmla="val 139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4581144"/>
            <a:ext cx="37033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7A7A7A"/>
                </a:solidFill>
                <a:latin typeface="맑은 고딕"/>
                <a:ea typeface="맑은 고딕"/>
              </a:rPr>
              <a:t>✕ 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운영 로그 · 피드백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수집되지 않거나, 개선으로 연결되지 않음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521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기술이 부족해서가 아니다 — 만든 것이 자산으로 남지 않는 ‘구조’가 문제였다.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문제의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다섯 가지가, 다섯 곳에서, 따로 관리된다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572768"/>
            <a:ext cx="1965960" cy="566928"/>
          </a:xfrm>
          <a:prstGeom prst="roundRect">
            <a:avLst>
              <a:gd name="adj" fmla="val 3024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91056"/>
            <a:ext cx="1965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도메인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1572768"/>
            <a:ext cx="1965960" cy="566928"/>
          </a:xfrm>
          <a:prstGeom prst="roundRect">
            <a:avLst>
              <a:gd name="adj" fmla="val 3024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591056"/>
            <a:ext cx="1965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사내 지식 (RAG)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572768"/>
            <a:ext cx="1965960" cy="566928"/>
          </a:xfrm>
          <a:prstGeom prst="roundRect">
            <a:avLst>
              <a:gd name="adj" fmla="val 3024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591056"/>
            <a:ext cx="1965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System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42048" y="1572768"/>
            <a:ext cx="1965960" cy="566928"/>
          </a:xfrm>
          <a:prstGeom prst="roundRect">
            <a:avLst>
              <a:gd name="adj" fmla="val 3024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1591056"/>
            <a:ext cx="1965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검색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81744" y="1572768"/>
            <a:ext cx="1965960" cy="566928"/>
          </a:xfrm>
          <a:prstGeom prst="roundRect">
            <a:avLst>
              <a:gd name="adj" fmla="val 3024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1744" y="1591056"/>
            <a:ext cx="19659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333333"/>
                </a:solidFill>
                <a:latin typeface="맑은 고딕"/>
                <a:ea typeface="맑은 고딕"/>
              </a:rPr>
              <a:t>운영 로그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05940" y="2139696"/>
            <a:ext cx="4293108" cy="585216"/>
          </a:xfrm>
          <a:prstGeom prst="line">
            <a:avLst/>
          </a:prstGeom>
          <a:ln w="1397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945636" y="2139696"/>
            <a:ext cx="2153412" cy="585216"/>
          </a:xfrm>
          <a:prstGeom prst="line">
            <a:avLst/>
          </a:prstGeom>
          <a:ln w="1397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85332" y="2139696"/>
            <a:ext cx="13716" cy="585216"/>
          </a:xfrm>
          <a:prstGeom prst="line">
            <a:avLst/>
          </a:prstGeom>
          <a:ln w="1397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99048" y="2139696"/>
            <a:ext cx="2125980" cy="585216"/>
          </a:xfrm>
          <a:prstGeom prst="line">
            <a:avLst/>
          </a:prstGeom>
          <a:ln w="1397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099048" y="2139696"/>
            <a:ext cx="4265676" cy="585216"/>
          </a:xfrm>
          <a:prstGeom prst="line">
            <a:avLst/>
          </a:prstGeom>
          <a:ln w="1397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035040" y="2660904"/>
            <a:ext cx="128016" cy="128016"/>
          </a:xfrm>
          <a:prstGeom prst="ellipse">
            <a:avLst/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59689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통합점 없음 — 각자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24612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spc="-100">
                <a:solidFill>
                  <a:srgbClr val="1D1D1F"/>
                </a:solidFill>
                <a:latin typeface="맑은 고딕"/>
                <a:ea typeface="맑은 고딕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전처리·프롬프트·검색을 매번 처음부터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43400" y="3291840"/>
            <a:ext cx="0" cy="118872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0" y="324612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spc="-100">
                <a:solidFill>
                  <a:srgbClr val="1D1D1F"/>
                </a:solidFill>
                <a:latin typeface="맑은 고딕"/>
                <a:ea typeface="맑은 고딕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부서별로 같은 봇을 각자 구축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0" y="3291840"/>
            <a:ext cx="0" cy="1188720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0" y="3246120"/>
            <a:ext cx="3291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spc="-100">
                <a:solidFill>
                  <a:srgbClr val="1D1D1F"/>
                </a:solidFill>
                <a:latin typeface="맑은 고딕"/>
                <a:ea typeface="맑은 고딕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로그·피드백이 개선으로 연결되지 않음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892040"/>
            <a:ext cx="10545775" cy="1024128"/>
          </a:xfrm>
          <a:prstGeom prst="roundRect">
            <a:avLst>
              <a:gd name="adj" fmla="val 16741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5074920"/>
            <a:ext cx="96313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650" b="1">
                <a:solidFill>
                  <a:srgbClr val="FFFFFF"/>
                </a:solidFill>
                <a:latin typeface="맑은 고딕"/>
                <a:ea typeface="맑은 고딕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맑은 고딕"/>
                <a:ea typeface="맑은 고딕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3504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INDUSTRY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병목은 ‘개발’에서 ‘운영’으로 이동했다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394960" cy="3200400"/>
          </a:xfrm>
          <a:prstGeom prst="roundRect">
            <a:avLst>
              <a:gd name="adj" fmla="val 535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105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기업 AI 수요의 무게중심 이동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80160" y="4251960"/>
            <a:ext cx="4480560" cy="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17320" y="2633472"/>
            <a:ext cx="1028700" cy="208483"/>
          </a:xfrm>
          <a:prstGeom prst="line">
            <a:avLst/>
          </a:prstGeom>
          <a:ln w="279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446020" y="2841955"/>
            <a:ext cx="1028700" cy="277977"/>
          </a:xfrm>
          <a:prstGeom prst="line">
            <a:avLst/>
          </a:prstGeom>
          <a:ln w="279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3119932"/>
            <a:ext cx="1028700" cy="243231"/>
          </a:xfrm>
          <a:prstGeom prst="line">
            <a:avLst/>
          </a:prstGeom>
          <a:ln w="279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503420" y="3363163"/>
            <a:ext cx="1028700" cy="138989"/>
          </a:xfrm>
          <a:prstGeom prst="line">
            <a:avLst/>
          </a:prstGeom>
          <a:ln w="27940">
            <a:solidFill>
              <a:srgbClr val="86868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376172" y="2592324"/>
            <a:ext cx="82296" cy="8229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04872" y="2800807"/>
            <a:ext cx="82296" cy="8229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33572" y="3078784"/>
            <a:ext cx="82296" cy="8229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62272" y="3322015"/>
            <a:ext cx="82296" cy="8229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90972" y="3461004"/>
            <a:ext cx="82296" cy="82296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1417320" y="3467404"/>
            <a:ext cx="1028700" cy="208484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446020" y="3154680"/>
            <a:ext cx="1028700" cy="312724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474720" y="2841955"/>
            <a:ext cx="1028700" cy="312725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503420" y="2546604"/>
            <a:ext cx="1028700" cy="295351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376172" y="3634740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04872" y="3426256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433572" y="3113532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62272" y="2800807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90972" y="2505456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1488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운영·개선 수요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56616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신규 구축(PoC) 수요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3251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25980" y="43251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3251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3380" y="43251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32511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2027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169164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1828800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50">
                <a:solidFill>
                  <a:srgbClr val="1D1D1F"/>
                </a:solidFill>
                <a:latin typeface="맑은 고딕"/>
                <a:ea typeface="맑은 고딕"/>
              </a:rPr>
              <a:t>PoC → 운영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‘만들 수 있는가’에서 ‘계속 잘 돌아가는가’로 — 운영 단계 좌초가 다수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2807208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944368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50">
                <a:solidFill>
                  <a:srgbClr val="1D1D1F"/>
                </a:solidFill>
                <a:latin typeface="맑은 고딕"/>
                <a:ea typeface="맑은 고딕"/>
              </a:rPr>
              <a:t>1 → N개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기업당 특화 Agent 수십 개 시대 — 개별 관리는 10개부터 통제 불능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3922776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59936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spc="-50">
                <a:solidFill>
                  <a:srgbClr val="1D1D1F"/>
                </a:solidFill>
                <a:latin typeface="맑은 고딕"/>
                <a:ea typeface="맑은 고딕"/>
              </a:rPr>
              <a:t>AgentOps 공백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DevOps·MLOps는 성숙, Agent 형상관리 표준은 부재 — 한국어·On-prem은 더 비어 있다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074920"/>
            <a:ext cx="10545775" cy="868680"/>
          </a:xfrm>
          <a:prstGeom prst="roundRect">
            <a:avLst>
              <a:gd name="adj" fmla="val 197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5285232"/>
            <a:ext cx="9631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1">
                <a:solidFill>
                  <a:srgbClr val="0066CC"/>
                </a:solidFill>
                <a:latin typeface="맑은 고딕"/>
                <a:ea typeface="맑은 고딕"/>
              </a:rPr>
              <a:t>Insight — 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기업 AI의 경쟁력은 ‘모델’이 아니라, 지식 → Agent → 운영 → 개선을 돌리는 </a:t>
            </a:r>
            <a:r>
              <a:rPr sz="1350" b="1">
                <a:solidFill>
                  <a:srgbClr val="0066CC"/>
                </a:solidFill>
                <a:latin typeface="맑은 고딕"/>
                <a:ea typeface="맑은 고딕"/>
              </a:rPr>
              <a:t>체계</a:t>
            </a:r>
            <a:r>
              <a:rPr sz="1350" b="1">
                <a:solidFill>
                  <a:srgbClr val="1D1D1F"/>
                </a:solidFill>
                <a:latin typeface="맑은 고딕"/>
                <a:ea typeface="맑은 고딕"/>
              </a:rPr>
              <a:t>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문제 발굴 35 · 고객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세 개의 자리, 하나의 고통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760720" cy="1280160"/>
          </a:xfrm>
          <a:prstGeom prst="roundRect">
            <a:avLst>
              <a:gd name="adj" fmla="val 133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186537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AI 개발팀장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28800"/>
            <a:ext cx="3566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“봇 하나 추가하는데 왜 두 달이 걸리죠?”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 재작업 → 리드타임 폭증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40"/>
            <a:ext cx="5760720" cy="1280160"/>
          </a:xfrm>
          <a:prstGeom prst="roundRect">
            <a:avLst>
              <a:gd name="adj" fmla="val 133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7280" y="328269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서비스 운영 담당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3566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“답변이 틀렸다는데, 뭘 고쳐야 할지 모르겠어요.”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로그가 흩어져 원인 추적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80560"/>
            <a:ext cx="5760720" cy="1280160"/>
          </a:xfrm>
          <a:prstGeom prst="roundRect">
            <a:avLst>
              <a:gd name="adj" fmla="val 1339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4700016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09160"/>
            <a:ext cx="15544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정보보호 · 경영진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663440"/>
            <a:ext cx="35661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“부서마다 AI를 따로 만드는데, 통제가 됩니까?”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중복 투자 · 이력 부재 · 보안 리스크</a:t>
            </a:r>
          </a:p>
        </p:txBody>
      </p:sp>
      <p:sp>
        <p:nvSpPr>
          <p:cNvPr id="19" name="Oval 18"/>
          <p:cNvSpPr/>
          <p:nvPr/>
        </p:nvSpPr>
        <p:spPr>
          <a:xfrm>
            <a:off x="7278624" y="1581912"/>
            <a:ext cx="2231136" cy="2231136"/>
          </a:xfrm>
          <a:prstGeom prst="ellipse">
            <a:avLst/>
          </a:prstGeom>
          <a:noFill/>
          <a:ln w="20320">
            <a:solidFill>
              <a:srgbClr val="86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0" y="1581912"/>
            <a:ext cx="2231136" cy="2231136"/>
          </a:xfrm>
          <a:prstGeom prst="ellipse">
            <a:avLst/>
          </a:prstGeom>
          <a:noFill/>
          <a:ln w="20320">
            <a:solidFill>
              <a:srgbClr val="86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2633472"/>
            <a:ext cx="2231136" cy="2231136"/>
          </a:xfrm>
          <a:prstGeom prst="ellipse">
            <a:avLst/>
          </a:prstGeom>
          <a:noFill/>
          <a:ln w="254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05472" y="12893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12893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운영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49194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66CC"/>
                </a:solidFill>
                <a:latin typeface="맑은 고딕"/>
                <a:ea typeface="맑은 고딕"/>
              </a:rPr>
              <a:t>보안 · 경영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80720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00" b="1">
                <a:solidFill>
                  <a:srgbClr val="7A7A7A"/>
                </a:solidFill>
                <a:latin typeface="맑은 고딕"/>
                <a:ea typeface="맑은 고딕"/>
              </a:rPr>
              <a:t>공통분모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운영 체계 부재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7A7A7A"/>
                </a:solidFill>
                <a:latin typeface="맑은 고딕"/>
                <a:ea typeface="맑은 고딕"/>
              </a:rPr>
              <a:t>세 목소리의 교집합 — </a:t>
            </a: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“AI를 담을 운영 체계가 없다”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One Console AI — 하나의 콘솔, 하나의 선순환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Oval 6"/>
          <p:cNvSpPr/>
          <p:nvPr/>
        </p:nvSpPr>
        <p:spPr>
          <a:xfrm>
            <a:off x="4727448" y="2331720"/>
            <a:ext cx="2743200" cy="2743200"/>
          </a:xfrm>
          <a:prstGeom prst="ellipse">
            <a:avLst/>
          </a:prstGeom>
          <a:noFill/>
          <a:ln w="2032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700000">
            <a:off x="6940899" y="25871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9" name="TextBox 8"/>
          <p:cNvSpPr txBox="1"/>
          <p:nvPr/>
        </p:nvSpPr>
        <p:spPr>
          <a:xfrm rot="8100000">
            <a:off x="6940899" y="452688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 rot="13500000">
            <a:off x="5001164" y="452688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1" name="TextBox 10"/>
          <p:cNvSpPr txBox="1"/>
          <p:nvPr/>
        </p:nvSpPr>
        <p:spPr>
          <a:xfrm rot="18900000">
            <a:off x="5001164" y="25871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2" name="Oval 11"/>
          <p:cNvSpPr/>
          <p:nvPr/>
        </p:nvSpPr>
        <p:spPr>
          <a:xfrm>
            <a:off x="5321808" y="2926080"/>
            <a:ext cx="1554480" cy="1554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1808" y="3392424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200" b="1">
                <a:solidFill>
                  <a:srgbClr val="0066CC"/>
                </a:solidFill>
                <a:latin typeface="맑은 고딕"/>
                <a:ea typeface="맑은 고딕"/>
              </a:rPr>
              <a:t>One Console</a:t>
            </a:r>
          </a:p>
          <a:p>
            <a:pPr algn="ctr">
              <a:lnSpc>
                <a:spcPct val="118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하나의 콘솔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8888" y="1124712"/>
            <a:ext cx="278892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0056" y="1271016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① Knowledge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흩어진 문서를 RAG 파이프라인으로 정제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0688" y="3246120"/>
            <a:ext cx="278892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1856" y="3392424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② Agent Config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bot_type 키로 프롬프트·검색 범위 형상관리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8888" y="5330952"/>
            <a:ext cx="278892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0056" y="5477256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③ AI Agent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REST API로 형상을 호출, 서비스로 수렴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18488" y="3246120"/>
            <a:ext cx="2788920" cy="9144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19656" y="3392424"/>
            <a:ext cx="2423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④ 운영 · 개선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로그·피드백이 콘솔로 되돌아와 다음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7A7A7A"/>
                </a:solidFill>
                <a:latin typeface="맑은 고딕"/>
                <a:ea typeface="맑은 고딕"/>
              </a:rPr>
              <a:t>④ → ① 운영 신호가 지식과 형상으로 되돌아온다 — 운영할수록 좋아지는 폐쇄 루프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어떤 문서든, 같은 규칙으로 지식이 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813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Confluence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63040" y="1810512"/>
            <a:ext cx="228600" cy="402336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12848" y="14813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1490472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PDF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691640" y="1810512"/>
            <a:ext cx="1161288" cy="402336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02736" y="14813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490472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Excel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691640" y="1810512"/>
            <a:ext cx="2551176" cy="402336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92624" y="148132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92624" y="1490472"/>
            <a:ext cx="1280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이미지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91640" y="1810512"/>
            <a:ext cx="3941064" cy="402336"/>
          </a:xfrm>
          <a:prstGeom prst="line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entagon 18"/>
          <p:cNvSpPr/>
          <p:nvPr/>
        </p:nvSpPr>
        <p:spPr>
          <a:xfrm>
            <a:off x="822960" y="2212848"/>
            <a:ext cx="1704289" cy="731520"/>
          </a:xfrm>
          <a:prstGeom prst="homePlate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20" name="Chevron 19"/>
          <p:cNvSpPr/>
          <p:nvPr/>
        </p:nvSpPr>
        <p:spPr>
          <a:xfrm>
            <a:off x="2591257" y="2212848"/>
            <a:ext cx="1704289" cy="73152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추출</a:t>
            </a:r>
          </a:p>
        </p:txBody>
      </p:sp>
      <p:sp>
        <p:nvSpPr>
          <p:cNvPr id="21" name="Chevron 20"/>
          <p:cNvSpPr/>
          <p:nvPr/>
        </p:nvSpPr>
        <p:spPr>
          <a:xfrm>
            <a:off x="4359554" y="2212848"/>
            <a:ext cx="1704289" cy="73152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전처리</a:t>
            </a:r>
          </a:p>
        </p:txBody>
      </p:sp>
      <p:sp>
        <p:nvSpPr>
          <p:cNvPr id="22" name="Chevron 21"/>
          <p:cNvSpPr/>
          <p:nvPr/>
        </p:nvSpPr>
        <p:spPr>
          <a:xfrm>
            <a:off x="6127851" y="2212848"/>
            <a:ext cx="1704289" cy="73152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가공</a:t>
            </a:r>
          </a:p>
        </p:txBody>
      </p:sp>
      <p:sp>
        <p:nvSpPr>
          <p:cNvPr id="23" name="Chevron 22"/>
          <p:cNvSpPr/>
          <p:nvPr/>
        </p:nvSpPr>
        <p:spPr>
          <a:xfrm>
            <a:off x="7896148" y="2212848"/>
            <a:ext cx="1704289" cy="731520"/>
          </a:xfrm>
          <a:prstGeom prst="chevron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적재</a:t>
            </a:r>
          </a:p>
        </p:txBody>
      </p:sp>
      <p:sp>
        <p:nvSpPr>
          <p:cNvPr id="24" name="Chevron 23"/>
          <p:cNvSpPr/>
          <p:nvPr/>
        </p:nvSpPr>
        <p:spPr>
          <a:xfrm>
            <a:off x="9664445" y="2212848"/>
            <a:ext cx="1704289" cy="731520"/>
          </a:xfrm>
          <a:prstGeom prst="chevron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RAGaaS 동기화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246120"/>
            <a:ext cx="5074920" cy="2514600"/>
          </a:xfrm>
          <a:prstGeom prst="roundRect">
            <a:avLst>
              <a:gd name="adj" fmla="val 681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3493008"/>
            <a:ext cx="44805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66CC"/>
                </a:solidFill>
                <a:latin typeface="맑은 고딕"/>
                <a:ea typeface="맑은 고딕"/>
              </a:rPr>
              <a:t>규칙 위반 출력은 적재 전 자동 반려 · 재생성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246120"/>
            <a:ext cx="5193792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493008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70">
                <a:solidFill>
                  <a:srgbClr val="7A7A7A"/>
                </a:solidFill>
                <a:latin typeface="맑은 고딕"/>
                <a:ea typeface="맑은 고딕"/>
              </a:rPr>
              <a:t>8주+</a:t>
            </a:r>
            <a:r>
              <a:rPr sz="2000" b="0">
                <a:solidFill>
                  <a:srgbClr val="86868B"/>
                </a:solidFill>
                <a:latin typeface="맑은 고딕"/>
                <a:ea typeface="맑은 고딕"/>
              </a:rPr>
              <a:t>  →  </a:t>
            </a:r>
            <a:r>
              <a:rPr sz="2800" b="1" spc="-70">
                <a:solidFill>
                  <a:srgbClr val="0066CC"/>
                </a:solidFill>
                <a:latin typeface="맑은 고딕"/>
                <a:ea typeface="맑은 고딕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150" b="1">
                <a:solidFill>
                  <a:srgbClr val="1D1D1F"/>
                </a:solidFill>
                <a:latin typeface="맑은 고딕"/>
                <a:ea typeface="맑은 고딕"/>
              </a:rPr>
              <a:t>신규 지식 구축 리드타임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572000"/>
            <a:ext cx="4206240" cy="274320"/>
          </a:xfrm>
          <a:prstGeom prst="roundRect">
            <a:avLst>
              <a:gd name="adj" fmla="val 2777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4572000"/>
            <a:ext cx="4206240" cy="274320"/>
          </a:xfrm>
          <a:prstGeom prst="roundRect">
            <a:avLst>
              <a:gd name="adj" fmla="val 27777"/>
            </a:avLst>
          </a:prstGeom>
          <a:noFill/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92240" y="4956048"/>
            <a:ext cx="504748" cy="274320"/>
          </a:xfrm>
          <a:prstGeom prst="roundRect">
            <a:avLst>
              <a:gd name="adj" fmla="val 27777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2" y="457200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현행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70140" y="49560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0066CC"/>
                </a:solidFill>
                <a:latin typeface="맑은 고딕"/>
                <a:ea typeface="맑은 고딕"/>
              </a:rPr>
              <a:t>플랫폼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5394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전처리 노하우가 플랫폼 기능으로 축적 · 최신성 자동 추적 · Index 단위 보안 경계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bot_type — 하나의 키가 모든 형상을 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3108960" cy="2377440"/>
          </a:xfrm>
          <a:prstGeom prst="roundRect">
            <a:avLst>
              <a:gd name="adj" fmla="val 7211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2560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1">
                <a:solidFill>
                  <a:srgbClr val="2997FF"/>
                </a:solidFill>
                <a:latin typeface="맑은 고딕"/>
                <a:ea typeface="맑은 고딕"/>
              </a:rPr>
              <a:t>고유 KEY</a:t>
            </a:r>
          </a:p>
          <a:p>
            <a:pPr algn="l">
              <a:lnSpc>
                <a:spcPct val="122000"/>
              </a:lnSpc>
            </a:pPr>
            <a:r>
              <a:rPr sz="2900" b="1" spc="-50">
                <a:solidFill>
                  <a:srgbClr val="FFFFFF"/>
                </a:solidFill>
                <a:latin typeface="맑은 고딕"/>
                <a:ea typeface="맑은 고딕"/>
              </a:rPr>
              <a:t>bot_type</a:t>
            </a:r>
          </a:p>
          <a:p>
            <a:pPr algn="l">
              <a:lnSpc>
                <a:spcPct val="122000"/>
              </a:lnSpc>
            </a:pPr>
            <a:r>
              <a:rPr sz="1000" b="0">
                <a:solidFill>
                  <a:srgbClr val="CCCCCC"/>
                </a:solidFill>
                <a:latin typeface="맑은 고딕"/>
                <a:ea typeface="맑은 고딕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931920" y="2176272"/>
            <a:ext cx="1097280" cy="932688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0" y="1783080"/>
            <a:ext cx="6400800" cy="786384"/>
          </a:xfrm>
          <a:prstGeom prst="roundRect">
            <a:avLst>
              <a:gd name="adj" fmla="val 2180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1901952"/>
            <a:ext cx="5943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① 에이전트 생성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이름 · 도메인 · 담당자 등록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931920" y="3090672"/>
            <a:ext cx="1097280" cy="18288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0" y="2697480"/>
            <a:ext cx="6400800" cy="786384"/>
          </a:xfrm>
          <a:prstGeom prst="roundRect">
            <a:avLst>
              <a:gd name="adj" fmla="val 2180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0" y="2816352"/>
            <a:ext cx="5943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② System Prompt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말투·역할 — 저장마다 새 버전, 원클릭 롤백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3108960"/>
            <a:ext cx="1097280" cy="896112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0" y="3611880"/>
            <a:ext cx="6400800" cy="786384"/>
          </a:xfrm>
          <a:prstGeom prst="roundRect">
            <a:avLst>
              <a:gd name="adj" fmla="val 2180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3730752"/>
            <a:ext cx="5943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③ 벡터 검색 설정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Index · Top-K · 유사도 · 출처 인용 강제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994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형상 완성도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617720"/>
            <a:ext cx="777240" cy="237744"/>
          </a:xfrm>
          <a:prstGeom prst="roundRect">
            <a:avLst>
              <a:gd name="adj" fmla="val 24038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32320" y="4617720"/>
            <a:ext cx="777240" cy="237744"/>
          </a:xfrm>
          <a:prstGeom prst="roundRect">
            <a:avLst>
              <a:gd name="adj" fmla="val 24038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0" y="4617720"/>
            <a:ext cx="777240" cy="237744"/>
          </a:xfrm>
          <a:prstGeom prst="roundRect">
            <a:avLst>
              <a:gd name="adj" fmla="val 24038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59943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66CC"/>
                </a:solidFill>
                <a:latin typeface="맑은 고딕"/>
                <a:ea typeface="맑은 고딕"/>
              </a:rPr>
              <a:t>3/3 → 자동 ‘운영’ 전환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5468112"/>
            <a:ext cx="5852160" cy="0"/>
          </a:xfrm>
          <a:prstGeom prst="line">
            <a:avLst/>
          </a:prstGeom>
          <a:ln w="1778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280160" y="534924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784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v1.0</a:t>
            </a:r>
          </a:p>
        </p:txBody>
      </p:sp>
      <p:sp>
        <p:nvSpPr>
          <p:cNvPr id="26" name="Oval 25"/>
          <p:cNvSpPr/>
          <p:nvPr/>
        </p:nvSpPr>
        <p:spPr>
          <a:xfrm>
            <a:off x="3931920" y="534924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56784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7A7A7A"/>
                </a:solidFill>
                <a:latin typeface="맑은 고딕"/>
                <a:ea typeface="맑은 고딕"/>
              </a:rPr>
              <a:t>v1.1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5349240"/>
            <a:ext cx="237744" cy="23774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678424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66CC"/>
                </a:solidFill>
                <a:latin typeface="맑은 고딕"/>
                <a:ea typeface="맑은 고딕"/>
              </a:rPr>
              <a:t>v1.2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29437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1D1D1F"/>
                </a:solidFill>
                <a:latin typeface="맑은 고딕"/>
                <a:ea typeface="맑은 고딕"/>
              </a:rPr>
              <a:t>모든 변경이 버전으로 기록,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</a:rPr>
              <a:t>문제 시 과거 버전으로 즉시 롤백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핵심 기능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운영 신호가, 콘솔로 되돌아온다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2487168" cy="1463040"/>
          </a:xfrm>
          <a:prstGeom prst="roundRect">
            <a:avLst>
              <a:gd name="adj" fmla="val 1171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920240"/>
            <a:ext cx="2029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수집</a:t>
            </a:r>
          </a:p>
          <a:p>
            <a:pPr algn="l">
              <a:lnSpc>
                <a:spcPct val="124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답변 로그 전건 기록
피드백 · 사용량 회귀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212848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487168" cy="1463040"/>
          </a:xfrm>
          <a:prstGeom prst="roundRect">
            <a:avLst>
              <a:gd name="adj" fmla="val 1171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1920240"/>
            <a:ext cx="2029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판정</a:t>
            </a:r>
          </a:p>
          <a:p>
            <a:pPr algn="l">
              <a:lnSpc>
                <a:spcPct val="124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★2 이하 → 개선 큐
인용 실패 → 지식 공백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2212848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91640"/>
            <a:ext cx="2487168" cy="1463040"/>
          </a:xfrm>
          <a:prstGeom prst="roundRect">
            <a:avLst>
              <a:gd name="adj" fmla="val 11718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5664" y="1920240"/>
            <a:ext cx="2029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조치</a:t>
            </a:r>
          </a:p>
          <a:p>
            <a:pPr algn="l">
              <a:lnSpc>
                <a:spcPct val="124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Prompt 새 버전 배포
검색 조정 · 재수집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212848"/>
            <a:ext cx="3108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86868B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1691640"/>
            <a:ext cx="2487168" cy="1463040"/>
          </a:xfrm>
          <a:prstGeom prst="roundRect">
            <a:avLst>
              <a:gd name="adj" fmla="val 11718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1920240"/>
            <a:ext cx="202996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50" b="1">
                <a:solidFill>
                  <a:srgbClr val="0066CC"/>
                </a:solidFill>
                <a:latin typeface="맑은 고딕"/>
                <a:ea typeface="맑은 고딕"/>
              </a:rPr>
              <a:t>형상 기록</a:t>
            </a:r>
          </a:p>
          <a:p>
            <a:pPr algn="l">
              <a:lnSpc>
                <a:spcPct val="124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개선 전후를 버전 비교
효과가 데이터로 증명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20440"/>
            <a:ext cx="5760720" cy="2331720"/>
          </a:xfrm>
          <a:prstGeom prst="roundRect">
            <a:avLst>
              <a:gd name="adj" fmla="val 7352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7033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개선 사이클 반복 → 만족도 상승 (파일럿 운영 예시)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25880" y="5532120"/>
            <a:ext cx="4754880" cy="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463040" y="4988052"/>
            <a:ext cx="877824" cy="157734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40864" y="4861864"/>
            <a:ext cx="877824" cy="126188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218688" y="4693615"/>
            <a:ext cx="877824" cy="168249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096512" y="4514850"/>
            <a:ext cx="877824" cy="178765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74336" y="4357116"/>
            <a:ext cx="877824" cy="157734"/>
          </a:xfrm>
          <a:prstGeom prst="line">
            <a:avLst/>
          </a:prstGeom>
          <a:ln w="27940">
            <a:solidFill>
              <a:srgbClr val="0066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421892" y="5104638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299716" y="4946904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77540" y="4820716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55364" y="4652467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33188" y="4473702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11012" y="4315968"/>
            <a:ext cx="82296" cy="8229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5218938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86868B"/>
                </a:solidFill>
                <a:latin typeface="맑은 고딕"/>
                <a:ea typeface="맑은 고딕"/>
              </a:rPr>
              <a:t>86%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4082796"/>
            <a:ext cx="7315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66CC"/>
                </a:solidFill>
                <a:latin typeface="맑은 고딕"/>
                <a:ea typeface="맑은 고딕"/>
              </a:rPr>
              <a:t>94%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586984"/>
            <a:ext cx="4754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개선 사이클 1 → 6회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520440"/>
            <a:ext cx="4507992" cy="2331720"/>
          </a:xfrm>
          <a:prstGeom prst="roundRect">
            <a:avLst>
              <a:gd name="adj" fmla="val 7352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3767328"/>
            <a:ext cx="38862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1" spc="-40">
                <a:solidFill>
                  <a:srgbClr val="2997FF"/>
                </a:solidFill>
                <a:latin typeface="맑은 고딕"/>
                <a:ea typeface="맑은 고딕"/>
              </a:rPr>
              <a:t>4시간+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멈춘 작업 자동 정리</a:t>
            </a:r>
          </a:p>
          <a:p>
            <a:pPr algn="l">
              <a:lnSpc>
                <a:spcPct val="128000"/>
              </a:lnSpc>
              <a:spcAft>
                <a:spcPts val="1000"/>
              </a:spcAft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장시간 running 작업을 판정·강제 종료 — 운영 안정성을 사람 없이 확보</a:t>
            </a:r>
          </a:p>
          <a:p>
            <a:pPr algn="l">
              <a:lnSpc>
                <a:spcPct val="128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“운영할수록 좋아진다”가 버전 비교로 증명 — 경쟁 입찰의 결정적 레퍼런스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개발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등록한 형상을, REST로 그대로 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760720" cy="3063240"/>
          </a:xfrm>
          <a:prstGeom prst="roundRect">
            <a:avLst>
              <a:gd name="adj" fmla="val 5597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01952"/>
            <a:ext cx="51206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86868B"/>
                </a:solidFill>
                <a:latin typeface="Consolas"/>
                <a:ea typeface="맑은 고딕"/>
              </a:rPr>
              <a:t># 형상 가져오기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2997FF"/>
                </a:solidFill>
                <a:latin typeface="Consolas"/>
                <a:ea typeface="맑은 고딕"/>
              </a:rPr>
              <a:t>GET  /agent/prompt/{bot_type}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2997FF"/>
                </a:solidFill>
                <a:latin typeface="Consolas"/>
                <a:ea typeface="맑은 고딕"/>
              </a:rPr>
              <a:t>GET  /agent/ragaas-config/{bot_type}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86868B"/>
                </a:solidFill>
                <a:latin typeface="Consolas"/>
                <a:ea typeface="맑은 고딕"/>
              </a:rPr>
              <a:t># 대화 호출 — 형상(Prompt+검색) 자동 적용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POST /agent/chat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CCCCCC"/>
                </a:solidFill>
                <a:latin typeface="Consolas"/>
                <a:ea typeface="맑은 고딕"/>
              </a:rPr>
              <a:t>     {"bot_type": "hr-assistant",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CCCCCC"/>
                </a:solidFill>
                <a:latin typeface="Consolas"/>
                <a:ea typeface="맑은 고딕"/>
              </a:rPr>
              <a:t>      "message": "육아휴직은 최대 얼마나?"}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86868B"/>
                </a:solidFill>
                <a:latin typeface="Consolas"/>
                <a:ea typeface="맑은 고딕"/>
              </a:rPr>
              <a:t># 피드백 회귀 — 운영 신호의 시작점</a:t>
            </a:r>
          </a:p>
          <a:p>
            <a:pPr algn="l">
              <a:lnSpc>
                <a:spcPct val="128000"/>
              </a:lnSpc>
            </a:pPr>
            <a:r>
              <a:rPr sz="1100" b="0">
                <a:solidFill>
                  <a:srgbClr val="FFFFFF"/>
                </a:solidFill>
                <a:latin typeface="Consolas"/>
                <a:ea typeface="맑은 고딕"/>
              </a:rPr>
              <a:t>POST /agent/feedback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892040"/>
            <a:ext cx="1783080" cy="713232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92624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spc="-40">
                <a:solidFill>
                  <a:srgbClr val="0066CC"/>
                </a:solidFill>
                <a:latin typeface="맑은 고딕"/>
                <a:ea typeface="맑은 고딕"/>
              </a:rPr>
              <a:t>19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엔드포인트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4892040"/>
            <a:ext cx="1783080" cy="713232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992624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spc="-40">
                <a:solidFill>
                  <a:srgbClr val="0066CC"/>
                </a:solidFill>
                <a:latin typeface="맑은 고딕"/>
                <a:ea typeface="맑은 고딕"/>
              </a:rPr>
              <a:t>3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형상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4892040"/>
            <a:ext cx="1783080" cy="713232"/>
          </a:xfrm>
          <a:prstGeom prst="roundRect">
            <a:avLst>
              <a:gd name="adj" fmla="val 2403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4992624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spc="-40">
                <a:solidFill>
                  <a:srgbClr val="0066CC"/>
                </a:solidFill>
                <a:latin typeface="맑은 고딕"/>
                <a:ea typeface="맑은 고딕"/>
              </a:rPr>
              <a:t>0초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저장=배포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459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1D1D1F"/>
                </a:solidFill>
                <a:latin typeface="맑은 고딕"/>
                <a:ea typeface="맑은 고딕"/>
              </a:rPr>
              <a:t>요청 한 건의 여정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23176" y="2148840"/>
            <a:ext cx="0" cy="2468880"/>
          </a:xfrm>
          <a:prstGeom prst="line">
            <a:avLst/>
          </a:prstGeom>
          <a:ln w="1778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031736" y="2048256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011680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① 앱이 bot_type으로 질문 전송</a:t>
            </a:r>
          </a:p>
        </p:txBody>
      </p:sp>
      <p:sp>
        <p:nvSpPr>
          <p:cNvPr id="19" name="Oval 18"/>
          <p:cNvSpPr/>
          <p:nvPr/>
        </p:nvSpPr>
        <p:spPr>
          <a:xfrm>
            <a:off x="7031736" y="2670048"/>
            <a:ext cx="182880" cy="18288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6334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D1D1F"/>
                </a:solidFill>
                <a:latin typeface="맑은 고딕"/>
                <a:ea typeface="맑은 고딕"/>
              </a:rPr>
              <a:t>② 콘솔 형상(Prompt+검색) 자동 적용</a:t>
            </a:r>
          </a:p>
        </p:txBody>
      </p:sp>
      <p:sp>
        <p:nvSpPr>
          <p:cNvPr id="21" name="Oval 20"/>
          <p:cNvSpPr/>
          <p:nvPr/>
        </p:nvSpPr>
        <p:spPr>
          <a:xfrm>
            <a:off x="7031736" y="329184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3255264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③ RAGaaS Index 검색 · 근거 확보</a:t>
            </a:r>
          </a:p>
        </p:txBody>
      </p:sp>
      <p:sp>
        <p:nvSpPr>
          <p:cNvPr id="23" name="Oval 22"/>
          <p:cNvSpPr/>
          <p:nvPr/>
        </p:nvSpPr>
        <p:spPr>
          <a:xfrm>
            <a:off x="7031736" y="391363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877056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④ 근거·유사도 점수와 함께 응답</a:t>
            </a:r>
          </a:p>
        </p:txBody>
      </p:sp>
      <p:sp>
        <p:nvSpPr>
          <p:cNvPr id="25" name="Oval 24"/>
          <p:cNvSpPr/>
          <p:nvPr/>
        </p:nvSpPr>
        <p:spPr>
          <a:xfrm>
            <a:off x="7031736" y="4535424"/>
            <a:ext cx="182880" cy="182880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449884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1D1D1F"/>
                </a:solidFill>
                <a:latin typeface="맑은 고딕"/>
                <a:ea typeface="맑은 고딕"/>
              </a:rPr>
              <a:t>⑤ 피드백이 콘솔로 회귀 → 개선 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5029200"/>
            <a:ext cx="4343400" cy="457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5038344"/>
            <a:ext cx="4343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LIVE DEMO — 발표장에서 실제 제품으로 시연합니다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차별성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‘만드는 도구’가 아니라, ‘좋아지게 만드는 체계’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691640"/>
          <a:ext cx="6675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80160"/>
                <a:gridCol w="128016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개별 구축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해외 SaaS</a:t>
                      </a:r>
                    </a:p>
                  </a:txBody>
                  <a:tcPr anchor="ctr"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One Console</a:t>
                      </a:r>
                    </a:p>
                  </a:txBody>
                  <a:tcPr anchor="ctr">
                    <a:solidFill>
                      <a:srgbClr val="0066C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D1D1F"/>
                          </a:solidFill>
                          <a:latin typeface="맑은 고딕"/>
                          <a:ea typeface="맑은 고딕"/>
                        </a:rPr>
                        <a:t>  현장 운영으로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7A7A7A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66CC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A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62763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포지셔닝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001000" y="4983479"/>
            <a:ext cx="3291840" cy="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01000" y="1874519"/>
            <a:ext cx="0" cy="3108960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38360" y="5029199"/>
            <a:ext cx="16459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형상·운영 통합도 →</a:t>
            </a:r>
          </a:p>
        </p:txBody>
      </p:sp>
      <p:sp>
        <p:nvSpPr>
          <p:cNvPr id="12" name="TextBox 11"/>
          <p:cNvSpPr txBox="1"/>
          <p:nvPr/>
        </p:nvSpPr>
        <p:spPr>
          <a:xfrm rot="16200000">
            <a:off x="7708392" y="2514599"/>
            <a:ext cx="274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국내 적합성 →</a:t>
            </a:r>
          </a:p>
        </p:txBody>
      </p:sp>
      <p:sp>
        <p:nvSpPr>
          <p:cNvPr id="13" name="Oval 12"/>
          <p:cNvSpPr/>
          <p:nvPr/>
        </p:nvSpPr>
        <p:spPr>
          <a:xfrm>
            <a:off x="8520379" y="3604563"/>
            <a:ext cx="146304" cy="146304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0571" y="3805731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86868B"/>
                </a:solidFill>
                <a:latin typeface="맑은 고딕"/>
                <a:ea typeface="맑은 고딕"/>
              </a:rPr>
              <a:t>개별 구축</a:t>
            </a:r>
          </a:p>
        </p:txBody>
      </p:sp>
      <p:sp>
        <p:nvSpPr>
          <p:cNvPr id="15" name="Oval 14"/>
          <p:cNvSpPr/>
          <p:nvPr/>
        </p:nvSpPr>
        <p:spPr>
          <a:xfrm>
            <a:off x="10100462" y="4288535"/>
            <a:ext cx="146304" cy="146304"/>
          </a:xfrm>
          <a:prstGeom prst="ellipse">
            <a:avLst/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50654" y="4489703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0">
                <a:solidFill>
                  <a:srgbClr val="86868B"/>
                </a:solidFill>
                <a:latin typeface="맑은 고딕"/>
                <a:ea typeface="맑은 고딕"/>
              </a:rPr>
              <a:t>해외 SaaS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0" y="2377439"/>
            <a:ext cx="237744" cy="237744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11512" y="2624327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0066CC"/>
                </a:solidFill>
                <a:latin typeface="맑은 고딕"/>
                <a:ea typeface="맑은 고딕"/>
              </a:rPr>
              <a:t>One Console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솔루션 30 · 그룹 시너지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아이티센이라서, 되는 사업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81728" y="3090672"/>
            <a:ext cx="2834640" cy="1133856"/>
          </a:xfrm>
          <a:prstGeom prst="roundRect">
            <a:avLst>
              <a:gd name="adj" fmla="val 1848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329184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그룹 역량의 교차점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691640"/>
            <a:ext cx="4023360" cy="1481328"/>
          </a:xfrm>
          <a:prstGeom prst="roundRect">
            <a:avLst>
              <a:gd name="adj" fmla="val 115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892808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SI 수행력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공공·금융 구축 경험 → On-prem 딜리버리 즉시 소화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15568" y="271576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66CC"/>
                </a:solidFill>
                <a:latin typeface="맑은 고딕"/>
                <a:ea typeface="맑은 고딕"/>
              </a:rPr>
              <a:t>플랫폼+구축 패키지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681728" y="2432304"/>
            <a:ext cx="164592" cy="950976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45375" y="1691640"/>
            <a:ext cx="4023360" cy="1481328"/>
          </a:xfrm>
          <a:prstGeom prst="roundRect">
            <a:avLst>
              <a:gd name="adj" fmla="val 115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7983" y="1892808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고객 기반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그룹 고객망 → 파일럿·레퍼런스 최단 경로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7983" y="271576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7983" y="272491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66CC"/>
                </a:solidFill>
                <a:latin typeface="맑은 고딕"/>
                <a:ea typeface="맑은 고딕"/>
              </a:rPr>
              <a:t>기존 계약 Add-on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45375" y="2432304"/>
            <a:ext cx="170993" cy="950976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" y="4572000"/>
            <a:ext cx="4023360" cy="1481328"/>
          </a:xfrm>
          <a:prstGeom prst="roundRect">
            <a:avLst>
              <a:gd name="adj" fmla="val 115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773168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클라우드 · MSP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그룹 클라우드와 결합 → 매니지드 운영 매출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" y="559612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560527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66CC"/>
                </a:solidFill>
                <a:latin typeface="맑은 고딕"/>
                <a:ea typeface="맑은 고딕"/>
              </a:rPr>
              <a:t>구독+운영 반복 매출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4681728" y="3931920"/>
            <a:ext cx="164592" cy="1380744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45375" y="4572000"/>
            <a:ext cx="4023360" cy="1481328"/>
          </a:xfrm>
          <a:prstGeom prst="roundRect">
            <a:avLst>
              <a:gd name="adj" fmla="val 1157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7983" y="4773168"/>
            <a:ext cx="3474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AI 사업 표준화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</a:rPr>
              <a:t>그룹 AI 프로젝트 공통 기반 → 원가 절감·품질 상향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7983" y="5596128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7983" y="5605272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66CC"/>
                </a:solidFill>
                <a:latin typeface="맑은 고딕"/>
                <a:ea typeface="맑은 고딕"/>
              </a:rPr>
              <a:t>내부 효율+외부 판매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345375" y="3931920"/>
            <a:ext cx="170993" cy="1380744"/>
          </a:xfrm>
          <a:prstGeom prst="line">
            <a:avLst/>
          </a:prstGeom>
          <a:ln w="1524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626364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커지는 판, 비어 있는 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2011680"/>
            <a:ext cx="3566160" cy="356616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587752"/>
            <a:ext cx="2414016" cy="2414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76272" y="3136392"/>
            <a:ext cx="1316736" cy="1316736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12140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333333"/>
                </a:solidFill>
                <a:latin typeface="맑은 고딕"/>
                <a:ea typeface="맑은 고딕"/>
              </a:rPr>
              <a:t>TAM  ~3조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1576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333333"/>
                </a:solidFill>
                <a:latin typeface="맑은 고딕"/>
                <a:ea typeface="맑은 고딕"/>
              </a:rPr>
              <a:t>SAM  ~3,000억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6272" y="3520440"/>
            <a:ext cx="13167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~50억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4800600"/>
            <a:ext cx="274320" cy="320040"/>
          </a:xfrm>
          <a:prstGeom prst="roundRect">
            <a:avLst>
              <a:gd name="adj" fmla="val 13888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30368" y="4617720"/>
            <a:ext cx="274320" cy="502920"/>
          </a:xfrm>
          <a:prstGeom prst="roundRect">
            <a:avLst>
              <a:gd name="adj" fmla="val 13888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14416" y="4389120"/>
            <a:ext cx="274320" cy="731520"/>
          </a:xfrm>
          <a:prstGeom prst="roundRect">
            <a:avLst>
              <a:gd name="adj" fmla="val 13888"/>
            </a:avLst>
          </a:prstGeom>
          <a:solidFill>
            <a:srgbClr val="F5F5F7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98464" y="4114800"/>
            <a:ext cx="274320" cy="1005840"/>
          </a:xfrm>
          <a:prstGeom prst="roundRect">
            <a:avLst>
              <a:gd name="adj" fmla="val 13888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5166360"/>
            <a:ext cx="1920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86868B"/>
                </a:solidFill>
                <a:latin typeface="맑은 고딕"/>
                <a:ea typeface="맑은 고딕"/>
              </a:rPr>
              <a:t>’25 → ’28 시장 성장(추정)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87452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116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지금인가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PoC 예산이 운영 예산으로 전환되는 변곡점 — 운영 플랫폼 구매가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20040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333756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비어 있나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해외 SaaS는 한국어 파이프라인 · On-prem · 공공 보안 요건에 구조적으로 취약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526280"/>
            <a:ext cx="457200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66344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왜 우리인가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구축 소화력(SI) + 레퍼런스를 만들 고객망을 동시 보유한 사업자는 드물다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35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※ TAM 국내 기업용 생성형 AI(2027E) · SAM LLMOps/AgentOps · SOM 3년 목표(20~30사) — 추정치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수익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구축으로 열고, 구독·운영으로 쌓는다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3383280" cy="1737360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4708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① 구축 (SI)</a:t>
            </a:r>
          </a:p>
          <a:p>
            <a:pPr algn="l">
              <a:lnSpc>
                <a:spcPct val="120000"/>
              </a:lnSpc>
            </a:pPr>
            <a:r>
              <a:rPr sz="2000" b="1" spc="-50">
                <a:solidFill>
                  <a:srgbClr val="0066CC"/>
                </a:solidFill>
                <a:latin typeface="맑은 고딕"/>
                <a:ea typeface="맑은 고딕"/>
              </a:rPr>
              <a:t>1~3억 / 건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설치 + 지식 파이프라인 초기 구축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45920"/>
            <a:ext cx="3383280" cy="1737360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184708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② 구독 (라이선스)</a:t>
            </a:r>
          </a:p>
          <a:p>
            <a:pPr algn="l">
              <a:lnSpc>
                <a:spcPct val="120000"/>
              </a:lnSpc>
            </a:pPr>
            <a:r>
              <a:rPr sz="2000" b="1" spc="-50">
                <a:solidFill>
                  <a:srgbClr val="0066CC"/>
                </a:solidFill>
                <a:latin typeface="맑은 고딕"/>
                <a:ea typeface="맑은 고딕"/>
              </a:rPr>
              <a:t>월 300~1,000만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Agent 수·사용량 티어 — 핵심 반복 매출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645920"/>
            <a:ext cx="3383280" cy="1737360"/>
          </a:xfrm>
          <a:prstGeom prst="roundRect">
            <a:avLst>
              <a:gd name="adj" fmla="val 9868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1847088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③ 운영 (MSP)</a:t>
            </a:r>
          </a:p>
          <a:p>
            <a:pPr algn="l">
              <a:lnSpc>
                <a:spcPct val="120000"/>
              </a:lnSpc>
            </a:pPr>
            <a:r>
              <a:rPr sz="2000" b="1" spc="-50">
                <a:solidFill>
                  <a:srgbClr val="0066CC"/>
                </a:solidFill>
                <a:latin typeface="맑은 고딕"/>
                <a:ea typeface="맑은 고딕"/>
              </a:rPr>
              <a:t>월 500만~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모니터링 · 개선 리포트 · 튜닝 대행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657600"/>
            <a:ext cx="5760720" cy="2240280"/>
          </a:xfrm>
          <a:prstGeom prst="roundRect">
            <a:avLst>
              <a:gd name="adj" fmla="val 765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840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연차별 매출 구성 (예시) — 반복 매출 비중이 커진다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4828032"/>
            <a:ext cx="685800" cy="676656"/>
          </a:xfrm>
          <a:prstGeom prst="roundRect">
            <a:avLst>
              <a:gd name="adj" fmla="val 4222"/>
            </a:avLst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45920" y="4646981"/>
            <a:ext cx="685800" cy="153619"/>
          </a:xfrm>
          <a:prstGeom prst="roundRect">
            <a:avLst>
              <a:gd name="adj" fmla="val 18601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45920" y="4566514"/>
            <a:ext cx="685800" cy="53035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558698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1년차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978908"/>
            <a:ext cx="685800" cy="525780"/>
          </a:xfrm>
          <a:prstGeom prst="roundRect">
            <a:avLst>
              <a:gd name="adj" fmla="val 5434"/>
            </a:avLst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46120" y="4475988"/>
            <a:ext cx="685800" cy="475488"/>
          </a:xfrm>
          <a:prstGeom prst="roundRect">
            <a:avLst>
              <a:gd name="adj" fmla="val 6009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46120" y="4274820"/>
            <a:ext cx="685800" cy="173736"/>
          </a:xfrm>
          <a:prstGeom prst="roundRect">
            <a:avLst>
              <a:gd name="adj" fmla="val 16447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558698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2년차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5079492"/>
            <a:ext cx="685800" cy="425196"/>
          </a:xfrm>
          <a:prstGeom prst="roundRect">
            <a:avLst>
              <a:gd name="adj" fmla="val 6720"/>
            </a:avLst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4224528"/>
            <a:ext cx="685800" cy="827532"/>
          </a:xfrm>
          <a:prstGeom prst="roundRect">
            <a:avLst>
              <a:gd name="adj" fmla="val 4166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46320" y="3771900"/>
            <a:ext cx="685800" cy="425196"/>
          </a:xfrm>
          <a:prstGeom prst="roundRect">
            <a:avLst>
              <a:gd name="adj" fmla="val 6720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5586984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3년차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4370832"/>
            <a:ext cx="201168" cy="201168"/>
          </a:xfrm>
          <a:prstGeom prst="roundRect">
            <a:avLst>
              <a:gd name="adj" fmla="val 18939"/>
            </a:avLst>
          </a:prstGeom>
          <a:solidFill>
            <a:srgbClr val="868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2432" y="434340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구축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4736592"/>
            <a:ext cx="201168" cy="201168"/>
          </a:xfrm>
          <a:prstGeom prst="roundRect">
            <a:avLst>
              <a:gd name="adj" fmla="val 18939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470916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구독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5102352"/>
            <a:ext cx="201168" cy="201168"/>
          </a:xfrm>
          <a:prstGeom prst="roundRect">
            <a:avLst>
              <a:gd name="adj" fmla="val 18939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42432" y="5074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운영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657600"/>
            <a:ext cx="4507992" cy="2240280"/>
          </a:xfrm>
          <a:prstGeom prst="roundRect">
            <a:avLst>
              <a:gd name="adj" fmla="val 7653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931920"/>
            <a:ext cx="38862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지식과 형상이 쌓일수록,
떠나기 어려워진다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고객이 축적한 자산이 곧 전환 비용 —
1회성 SI가 3~5년 락인 구독·운영 매출로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053328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86868B"/>
                </a:solidFill>
                <a:latin typeface="맑은 고딕"/>
                <a:ea typeface="맑은 고딕"/>
              </a:rPr>
              <a:t>※ 가격·구성은 예시 — 파일럿에서 지불의사 검증 후 확정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사업화 20 ·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완벽한 계획보다, 실행 가능한 첫걸음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2743200"/>
            <a:ext cx="9784080" cy="0"/>
          </a:xfrm>
          <a:prstGeom prst="line">
            <a:avLst/>
          </a:prstGeom>
          <a:ln w="203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60704" y="2615184"/>
            <a:ext cx="256032" cy="256032"/>
          </a:xfrm>
          <a:prstGeom prst="ellipse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" y="18288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MVP 검증 완료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37160" y="30175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콘솔+API+파이프라인 구현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현장에서 운영 모델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4069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4078224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데모 가능</a:t>
            </a:r>
          </a:p>
        </p:txBody>
      </p:sp>
      <p:sp>
        <p:nvSpPr>
          <p:cNvPr id="13" name="Oval 12"/>
          <p:cNvSpPr/>
          <p:nvPr/>
        </p:nvSpPr>
        <p:spPr>
          <a:xfrm>
            <a:off x="4315968" y="2615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46704" y="18288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유상 파일럿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30175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그룹 고객 1~2사 PoC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지불의사 · 가격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38144" y="4069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4078224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파일럿 1건 계약</a:t>
            </a:r>
          </a:p>
        </p:txBody>
      </p:sp>
      <p:sp>
        <p:nvSpPr>
          <p:cNvPr id="18" name="Oval 17"/>
          <p:cNvSpPr/>
          <p:nvPr/>
        </p:nvSpPr>
        <p:spPr>
          <a:xfrm>
            <a:off x="7571232" y="2615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8288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제품화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0175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멀티테넌트 · 설치형 패키징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공공·금융 진입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3408" y="4069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4078224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레퍼런스 2~3건</a:t>
            </a:r>
          </a:p>
        </p:txBody>
      </p:sp>
      <p:sp>
        <p:nvSpPr>
          <p:cNvPr id="23" name="Oval 22"/>
          <p:cNvSpPr/>
          <p:nvPr/>
        </p:nvSpPr>
        <p:spPr>
          <a:xfrm>
            <a:off x="10826496" y="2615184"/>
            <a:ext cx="256032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1828800"/>
            <a:ext cx="21945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450" b="1">
                <a:solidFill>
                  <a:srgbClr val="1D1D1F"/>
                </a:solidFill>
                <a:latin typeface="맑은 고딕"/>
                <a:ea typeface="맑은 고딕"/>
              </a:rPr>
              <a:t>산업 확장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28632" y="30175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산업별 템플릿 · 파트너 채널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</a:rPr>
              <a:t>· MSP 운영 매출 본격화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8672" y="40690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4078224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333333"/>
                </a:solidFill>
                <a:latin typeface="맑은 고딕"/>
                <a:ea typeface="맑은 고딕"/>
              </a:rPr>
              <a:t>고객 20~30사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74920"/>
            <a:ext cx="10545775" cy="868680"/>
          </a:xfrm>
          <a:prstGeom prst="roundRect">
            <a:avLst>
              <a:gd name="adj" fmla="val 1973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76088"/>
            <a:ext cx="96313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0066CC"/>
                </a:solidFill>
                <a:latin typeface="맑은 고딕"/>
                <a:ea typeface="맑은 고딕"/>
              </a:rPr>
              <a:t>첫걸음은 이미 뗐습니다 — </a:t>
            </a:r>
            <a:r>
              <a:rPr sz="1300" b="1">
                <a:solidFill>
                  <a:srgbClr val="1D1D1F"/>
                </a:solidFill>
                <a:latin typeface="맑은 고딕"/>
                <a:ea typeface="맑은 고딕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실행력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5878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spc="-70">
                <a:solidFill>
                  <a:srgbClr val="1D1D1F"/>
                </a:solidFill>
                <a:latin typeface="맑은 고딕"/>
                <a:ea typeface="맑은 고딕"/>
              </a:rPr>
              <a:t>아이디어가 아니라, 제품으로 왔습니다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86868B"/>
                </a:solidFill>
                <a:latin typeface="맑은 고딕"/>
                <a:ea typeface="맑은 고딕"/>
              </a:rPr>
              <a:t>One Console AI — ITCEN 신사업 공모전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86868B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제품 준비도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15544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066CC"/>
                </a:solidFill>
                <a:latin typeface="맑은 고딕"/>
                <a:ea typeface="맑은 고딕"/>
              </a:rPr>
              <a:t>4 / 5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47088"/>
            <a:ext cx="2036003" cy="365760"/>
          </a:xfrm>
          <a:prstGeom prst="roundRect">
            <a:avLst>
              <a:gd name="adj" fmla="val 2083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01952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콘솔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0403" y="1847088"/>
            <a:ext cx="2036003" cy="365760"/>
          </a:xfrm>
          <a:prstGeom prst="roundRect">
            <a:avLst>
              <a:gd name="adj" fmla="val 2083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1901952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ITCEN-API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7846" y="1847088"/>
            <a:ext cx="2036003" cy="365760"/>
          </a:xfrm>
          <a:prstGeom prst="roundRect">
            <a:avLst>
              <a:gd name="adj" fmla="val 2083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7846" y="1901952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RAG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289" y="1847088"/>
            <a:ext cx="2036003" cy="365760"/>
          </a:xfrm>
          <a:prstGeom prst="roundRect">
            <a:avLst>
              <a:gd name="adj" fmla="val 20833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289" y="1901952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운영 루프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2732" y="1847088"/>
            <a:ext cx="2036003" cy="3657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32732" y="1901952"/>
            <a:ext cx="20360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엔터프라이즈 요건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514600"/>
            <a:ext cx="5074920" cy="301752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743200"/>
            <a:ext cx="44348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이미 만들어 둔 것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관리 콘솔 8개 화면 — 지식·형상·운영·개선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ITCEN-API 19개 REST 엔드포인트 + Swagger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RAG 파이프라인 (추출→전처리→가공→적재)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bot_type 형상관리 — 버전 · 롤백 · 즉시 배포</a:t>
            </a:r>
          </a:p>
          <a:p>
            <a:pPr algn="l">
              <a:lnSpc>
                <a:spcPct val="122000"/>
              </a:lnSpc>
            </a:pPr>
            <a:r>
              <a:rPr sz="1150" b="1">
                <a:solidFill>
                  <a:srgbClr val="0066CC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운영 루프 — 피드백 회귀 · 멈춘 작업(4h+) 정리</a:t>
            </a:r>
          </a:p>
          <a:p>
            <a:pPr algn="l">
              <a:lnSpc>
                <a:spcPct val="122000"/>
              </a:lnSpc>
            </a:pPr>
            <a:r>
              <a:rPr sz="1050" b="1">
                <a:solidFill>
                  <a:srgbClr val="0066CC"/>
                </a:solidFill>
                <a:latin typeface="맑은 고딕"/>
                <a:ea typeface="맑은 고딕"/>
              </a:rPr>
              <a:t>→ 발표장에서 라이브 데모로 확인시켜 드립니다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514600"/>
            <a:ext cx="5193792" cy="3017520"/>
          </a:xfrm>
          <a:prstGeom prst="roundRect">
            <a:avLst>
              <a:gd name="adj" fmla="val 5681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743200"/>
            <a:ext cx="44805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>
                <a:solidFill>
                  <a:srgbClr val="1D1D1F"/>
                </a:solidFill>
                <a:latin typeface="맑은 고딕"/>
                <a:ea typeface="맑은 고딕"/>
              </a:rPr>
              <a:t>다음 단계를 위해 필요한 것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TF 4~6인 (기획 1 · 개발 3 · AI 1) — 6개월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파일럿 고객 1~2사 연결 (그룹 영업망 협조)</a:t>
            </a:r>
          </a:p>
          <a:p>
            <a:pPr algn="l">
              <a:lnSpc>
                <a:spcPct val="122000"/>
              </a:lnSpc>
              <a:spcAft>
                <a:spcPts val="12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엔터프라이즈 보안 요건 보강 예산</a:t>
            </a: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1">
                <a:solidFill>
                  <a:srgbClr val="0066CC"/>
                </a:solidFill>
                <a:latin typeface="맑은 고딕"/>
                <a:ea typeface="맑은 고딕"/>
              </a:rPr>
              <a:t>6개월 목표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유상 파일럿 1건 계약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</a:rPr>
              <a:t>·  운영 데이터로 개선 효과 정량 입증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5457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1D1D1F"/>
                </a:solidFill>
                <a:latin typeface="맑은 고딕"/>
                <a:ea typeface="맑은 고딕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프로젝트가 아닌 </a:t>
            </a:r>
            <a:r>
              <a:rPr sz="4600" b="1" spc="-110">
                <a:solidFill>
                  <a:srgbClr val="2997FF"/>
                </a:solidFill>
                <a:latin typeface="맑은 고딕"/>
                <a:ea typeface="맑은 고딕"/>
              </a:rPr>
              <a:t>플랫폼</a:t>
            </a:r>
            <a:r>
              <a:rPr sz="4600" b="1" spc="-110">
                <a:solidFill>
                  <a:srgbClr val="FFFFFF"/>
                </a:solidFill>
                <a:latin typeface="맑은 고딕"/>
                <a:ea typeface="맑은 고딕"/>
              </a:rPr>
              <a:t>으로.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9536" y="3657600"/>
            <a:ext cx="566928" cy="4114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신규 Agent 리드타임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중복 Agent · 운영비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406908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000" b="1" spc="-70">
                <a:solidFill>
                  <a:srgbClr val="FFFFFF"/>
                </a:solidFill>
                <a:latin typeface="맑은 고딕"/>
                <a:ea typeface="맑은 고딕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50" b="0">
                <a:solidFill>
                  <a:srgbClr val="86868B"/>
                </a:solidFill>
                <a:latin typeface="맑은 고딕"/>
                <a:ea typeface="맑은 고딕"/>
              </a:rPr>
              <a:t>운영할수록 좋아지는 품질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300" b="1">
                <a:solidFill>
                  <a:srgbClr val="CCCCCC"/>
                </a:solidFill>
                <a:latin typeface="맑은 고딕"/>
                <a:ea typeface="맑은 고딕"/>
              </a:rPr>
              <a:t>현장에서 발견한 문제로 시작해, 검증된 해결책을 거쳐, 아이티센의 다음 성장 동력이 되겠습니다.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감사합니다  ·  라이브 데모(콘솔 + Swagger UI) 준비 완료  ·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