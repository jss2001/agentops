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gradFill rotWithShape="1">
            <a:gsLst>
              <a:gs pos="0">
                <a:srgbClr val="2E63FF"/>
              </a:gs>
              <a:gs pos="100000">
                <a:srgbClr val="0B2BD6"/>
              </a:gs>
            </a:gsLst>
            <a:lin scaled="0" ang="14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0352" cy="292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20">
                <a:solidFill>
                  <a:srgbClr val="FFFFFF"/>
                </a:solidFill>
                <a:latin typeface="Pretendard"/>
                <a:ea typeface="Pretendard"/>
              </a:rPr>
              <a:t>ITCEN  · 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spc="-80">
                <a:solidFill>
                  <a:srgbClr val="FFFFFF"/>
                </a:solidFill>
                <a:latin typeface="Pretendard"/>
                <a:ea typeface="Pretendard"/>
              </a:rPr>
              <a:t>One</a:t>
            </a:r>
          </a:p>
          <a:p>
            <a:pPr algn="l">
              <a:lnSpc>
                <a:spcPct val="104000"/>
              </a:lnSpc>
            </a:pPr>
            <a:r>
              <a:rPr sz="4600" b="1" spc="-80">
                <a:solidFill>
                  <a:srgbClr val="FFFFFF"/>
                </a:solidFill>
                <a:latin typeface="Pretendard"/>
                <a:ea typeface="Pretendard"/>
              </a:rPr>
              <a:t>Console</a:t>
            </a:r>
          </a:p>
          <a:p>
            <a:pPr algn="l">
              <a:lnSpc>
                <a:spcPct val="104000"/>
              </a:lnSpc>
            </a:pPr>
            <a:r>
              <a:rPr sz="4600" b="1" spc="-80">
                <a:solidFill>
                  <a:srgbClr val="FFFFFF"/>
                </a:solidFill>
                <a:latin typeface="Pretendard"/>
                <a:ea typeface="Pretendard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10912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Enterprise AI Operating System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BFD0FF"/>
                </a:solidFill>
                <a:latin typeface="Pretendard"/>
                <a:ea typeface="Pretendard"/>
              </a:rPr>
              <a:t>기업의 AI 지식과 운영 경험을 자산으로 축적하는 플랫폼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635508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0" y="237744"/>
            <a:ext cx="310896" cy="310896"/>
          </a:xfrm>
          <a:prstGeom prst="roundRect">
            <a:avLst>
              <a:gd name="adj" fmla="val 2450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10126980" y="306324"/>
            <a:ext cx="173736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0736" y="23774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아이티센</a:t>
            </a:r>
            <a:r>
              <a:rPr sz="1500" b="1">
                <a:solidFill>
                  <a:srgbClr val="0049F0"/>
                </a:solidFill>
                <a:latin typeface="Pretendard"/>
                <a:ea typeface="Pretendard"/>
              </a:rPr>
              <a:t>엔텍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0136" y="162763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300">
                <a:solidFill>
                  <a:srgbClr val="0049F0"/>
                </a:solidFill>
                <a:latin typeface="Pretendard"/>
                <a:ea typeface="Pretendard"/>
              </a:rPr>
              <a:t>PROPOSAL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136" y="2103120"/>
            <a:ext cx="60350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900" b="1" spc="-50">
                <a:solidFill>
                  <a:srgbClr val="0C0C0C"/>
                </a:solidFill>
                <a:latin typeface="Pretendard"/>
                <a:ea typeface="Pretendard"/>
              </a:rPr>
              <a:t>AI Agent</a:t>
            </a:r>
            <a:r>
              <a:rPr sz="2900" b="1" spc="-50">
                <a:solidFill>
                  <a:srgbClr val="0C0C0C"/>
                </a:solidFill>
                <a:latin typeface="Pretendard"/>
                <a:ea typeface="Pretendard"/>
              </a:rPr>
              <a:t>를 만드는 것이</a:t>
            </a:r>
          </a:p>
          <a:p>
            <a:pPr algn="l">
              <a:lnSpc>
                <a:spcPct val="118000"/>
              </a:lnSpc>
            </a:pPr>
            <a:r>
              <a:rPr sz="2900" b="1" spc="-50">
                <a:solidFill>
                  <a:srgbClr val="0C0C0C"/>
                </a:solidFill>
                <a:latin typeface="Pretendard"/>
                <a:ea typeface="Pretendard"/>
              </a:rPr>
              <a:t>문제가 아니라,</a:t>
            </a:r>
          </a:p>
          <a:p>
            <a:pPr algn="l">
              <a:lnSpc>
                <a:spcPct val="118000"/>
              </a:lnSpc>
            </a:pPr>
            <a:r>
              <a:rPr sz="2900" b="1" spc="-50">
                <a:solidFill>
                  <a:srgbClr val="1B4DF0"/>
                </a:solidFill>
                <a:latin typeface="Pretendard"/>
                <a:ea typeface="Pretendard"/>
              </a:rPr>
              <a:t>매번 다시 만드는 구조</a:t>
            </a:r>
            <a:r>
              <a:rPr sz="2900" b="1" spc="-50">
                <a:solidFill>
                  <a:srgbClr val="0C0C0C"/>
                </a:solidFill>
                <a:latin typeface="Pretendard"/>
                <a:ea typeface="Pretendard"/>
              </a:rPr>
              <a:t>가</a:t>
            </a:r>
          </a:p>
          <a:p>
            <a:pPr algn="l">
              <a:lnSpc>
                <a:spcPct val="118000"/>
              </a:lnSpc>
            </a:pPr>
            <a:r>
              <a:rPr sz="2900" b="1" spc="-50">
                <a:solidFill>
                  <a:srgbClr val="0C0C0C"/>
                </a:solidFill>
                <a:latin typeface="Pretendard"/>
                <a:ea typeface="Pretendard"/>
              </a:rPr>
              <a:t>문제입니다.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0136" y="4626864"/>
            <a:ext cx="502920" cy="32004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0136" y="4864608"/>
            <a:ext cx="594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AI 프로젝트가 끝나는 순간 지식과 운영 경험이 함께 사라지는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SI 중심의 일회성 사업을 </a:t>
            </a:r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“운영할수록 똑똑해지는 플랫폼”</a:t>
            </a: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으로 전환합니다.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0136" y="6144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50">
                <a:solidFill>
                  <a:srgbClr val="A6A6A6"/>
                </a:solidFill>
                <a:latin typeface="Pretendard"/>
                <a:ea typeface="Pretendard"/>
              </a:rPr>
              <a:t>ITCEN · Enterprise AI Platform 신사업 제안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