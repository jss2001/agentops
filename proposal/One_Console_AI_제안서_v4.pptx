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955280" y="1783080"/>
            <a:ext cx="3291840" cy="3291840"/>
          </a:xfrm>
          <a:prstGeom prst="ellipse">
            <a:avLst/>
          </a:prstGeom>
          <a:noFill/>
          <a:ln w="15240">
            <a:solidFill>
              <a:srgbClr val="3A3A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32620" y="1714500"/>
            <a:ext cx="137160" cy="137160"/>
          </a:xfrm>
          <a:prstGeom prst="ellipse">
            <a:avLst/>
          </a:prstGeom>
          <a:solidFill>
            <a:srgbClr val="4D8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178540" y="3360420"/>
            <a:ext cx="137160" cy="137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32620" y="5006340"/>
            <a:ext cx="137160" cy="137160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886700" y="3360420"/>
            <a:ext cx="137160" cy="137160"/>
          </a:xfrm>
          <a:prstGeom prst="ellipse">
            <a:avLst/>
          </a:prstGeom>
          <a:solidFill>
            <a:srgbClr val="3A3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315468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050" b="0">
                <a:solidFill>
                  <a:srgbClr val="A6A6A6"/>
                </a:solidFill>
                <a:latin typeface="맑은 고딕"/>
                <a:ea typeface="맑은 고딕"/>
              </a:rPr>
              <a:t>지식 → Agent →</a:t>
            </a:r>
          </a:p>
          <a:p>
            <a:pPr algn="ctr">
              <a:lnSpc>
                <a:spcPct val="118000"/>
              </a:lnSpc>
            </a:pPr>
            <a:r>
              <a:rPr sz="1050" b="0">
                <a:solidFill>
                  <a:srgbClr val="A6A6A6"/>
                </a:solidFill>
                <a:latin typeface="맑은 고딕"/>
                <a:ea typeface="맑은 고딕"/>
              </a:rPr>
              <a:t>운영 → 개선 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A6A6A6"/>
                </a:solidFill>
                <a:latin typeface="맑은 고딕"/>
                <a:ea typeface="맑은 고딕"/>
              </a:rPr>
              <a:t>ITCEN 신사업 아이디어 공모전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18927" y="50292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A6A6A6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914400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78408" y="914400"/>
            <a:ext cx="10646359" cy="0"/>
          </a:xfrm>
          <a:prstGeom prst="line">
            <a:avLst/>
          </a:prstGeom>
          <a:ln w="12700">
            <a:solidFill>
              <a:srgbClr val="3A3A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196596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600" b="1" spc="-120">
                <a:solidFill>
                  <a:srgbClr val="FFFFFF"/>
                </a:solidFill>
                <a:latin typeface="맑은 고딕"/>
                <a:ea typeface="맑은 고딕"/>
              </a:rPr>
              <a:t>One Console AI</a:t>
            </a:r>
          </a:p>
          <a:p>
            <a:pPr algn="l">
              <a:lnSpc>
                <a:spcPct val="110000"/>
              </a:lnSpc>
            </a:pPr>
            <a:r>
              <a:rPr sz="2200" b="0">
                <a:solidFill>
                  <a:srgbClr val="CCCCCC"/>
                </a:solidFill>
                <a:latin typeface="맑은 고딕"/>
                <a:ea typeface="맑은 고딕"/>
              </a:rPr>
              <a:t>AI Agent </a:t>
            </a:r>
            <a:r>
              <a:rPr sz="2200" b="1">
                <a:solidFill>
                  <a:srgbClr val="FFFFFF"/>
                </a:solidFill>
                <a:latin typeface="맑은 고딕"/>
                <a:ea typeface="맑은 고딕"/>
              </a:rPr>
              <a:t>통합 형상관리 플랫폼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41648"/>
            <a:ext cx="512064" cy="4572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1596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기업 AI를, 프로젝트가 아닌 플랫폼으로.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A6A6A6"/>
                </a:solidFill>
                <a:latin typeface="맑은 고딕"/>
                <a:ea typeface="맑은 고딕"/>
              </a:rPr>
              <a:t>현장에서 반복된 문제로 시작해, 검증된 해결책을 거쳐, 사업이 됩니다.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806440"/>
            <a:ext cx="12191695" cy="566928"/>
          </a:xfrm>
          <a:prstGeom prst="rect">
            <a:avLst/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94360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CCCCCC"/>
                </a:solidFill>
                <a:latin typeface="맑은 고딕"/>
                <a:ea typeface="맑은 고딕"/>
              </a:rPr>
              <a:t>2026. 07   |   아이디어 제안서   |   제안팀 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제안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네 가지 심사 기준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에, 네 줄로 답합니다.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3824523" cy="420624"/>
          </a:xfrm>
          <a:prstGeom prst="roundRect">
            <a:avLst>
              <a:gd name="adj" fmla="val 13586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57984"/>
            <a:ext cx="382452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35</a:t>
            </a:r>
            <a:r>
              <a:rPr sz="950" b="0">
                <a:solidFill>
                  <a:srgbClr val="FFFFFF"/>
                </a:solidFill>
                <a:latin typeface="맑은 고딕"/>
                <a:ea typeface="맑은 고딕"/>
              </a:rPr>
              <a:t>  문제 발굴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7171" y="2103120"/>
            <a:ext cx="3271631" cy="420624"/>
          </a:xfrm>
          <a:prstGeom prst="roundRect">
            <a:avLst>
              <a:gd name="adj" fmla="val 13586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7171" y="2157984"/>
            <a:ext cx="3271631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30</a:t>
            </a:r>
            <a:r>
              <a:rPr sz="950" b="0">
                <a:solidFill>
                  <a:srgbClr val="FFFFFF"/>
                </a:solidFill>
                <a:latin typeface="맑은 고딕"/>
                <a:ea typeface="맑은 고딕"/>
              </a:rPr>
              <a:t>  솔루션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54523" y="2103120"/>
            <a:ext cx="2165847" cy="420624"/>
          </a:xfrm>
          <a:prstGeom prst="roundRect">
            <a:avLst>
              <a:gd name="adj" fmla="val 13586"/>
            </a:avLst>
          </a:prstGeom>
          <a:solidFill>
            <a:srgbClr val="7A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54523" y="2157984"/>
            <a:ext cx="2165847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  <a:r>
              <a:rPr sz="950" b="0">
                <a:solidFill>
                  <a:srgbClr val="FFFFFF"/>
                </a:solidFill>
                <a:latin typeface="맑은 고딕"/>
                <a:ea typeface="맑은 고딕"/>
              </a:rPr>
              <a:t>  사업화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966091" y="2103120"/>
            <a:ext cx="1612955" cy="420624"/>
          </a:xfrm>
          <a:prstGeom prst="roundRect">
            <a:avLst>
              <a:gd name="adj" fmla="val 13586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091" y="2157984"/>
            <a:ext cx="161295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15</a:t>
            </a:r>
            <a:r>
              <a:rPr sz="950" b="0">
                <a:solidFill>
                  <a:srgbClr val="FFFFFF"/>
                </a:solidFill>
                <a:latin typeface="맑은 고딕"/>
                <a:ea typeface="맑은 고딕"/>
              </a:rPr>
              <a:t>  실행력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2895" y="1828800"/>
            <a:ext cx="126187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맑은 고딕"/>
                <a:ea typeface="맑은 고딕"/>
              </a:rPr>
              <a:t>100점 만점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743200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2980944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맑은 고딕"/>
                <a:ea typeface="맑은 고딕"/>
              </a:rPr>
              <a:t>35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92808" y="2999232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문제 발굴 · Industry Insight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프로젝트마다 처음부터 다시 만드는 기업 AI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맑은 고딕"/>
                <a:ea typeface="맑은 고딕"/>
              </a:rPr>
              <a:t>대기업 현장에서 반복 확인한 구조적 비효율 — 지식·형상·로그가 전부 흩어져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2743200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2980944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맑은 고딕"/>
                <a:ea typeface="맑은 고딕"/>
              </a:rPr>
              <a:t>30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2999232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솔루션 유효성 · 차별성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하나의 콘솔로 지식 · 형상 · 운영을 통합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맑은 고딕"/>
                <a:ea typeface="맑은 고딕"/>
              </a:rPr>
              <a:t>아이디어가 아니라 이미 동작하는 MVP — 콘솔 + REST API + 개선 루프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18304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4956048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맑은 고딕"/>
                <a:ea typeface="맑은 고딕"/>
              </a:rPr>
              <a:t>20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92808" y="4974336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사업화 가능성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구축 → 구독 → 운영으로 쌓이는 반복 매출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맑은 고딕"/>
                <a:ea typeface="맑은 고딕"/>
              </a:rPr>
              <a:t>아이티센 그룹 고객망이 곧 판로 — SI 본업과 같은 딜리버리 구조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4718304"/>
            <a:ext cx="5394960" cy="1755648"/>
          </a:xfrm>
          <a:prstGeom prst="roundRect">
            <a:avLst>
              <a:gd name="adj" fmla="val 759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9672" y="4956048"/>
            <a:ext cx="10515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 spc="-80">
                <a:solidFill>
                  <a:srgbClr val="0049F0"/>
                </a:solidFill>
                <a:latin typeface="맑은 고딕"/>
                <a:ea typeface="맑은 고딕"/>
              </a:rPr>
              <a:t>15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4974336"/>
            <a:ext cx="3749040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실행력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선정 다음 날부터 파일럿 준비 가능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맑은 고딕"/>
                <a:ea typeface="맑은 고딕"/>
              </a:rPr>
              <a:t>발표장에서 슬라이드가 아닌 실제 제품으로 라이브 데모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현장의 발견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“N번째 프로젝트에서, 같은 것을 또 만들고 있었다.”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  — 글로벌 제조 대기업 프로젝트의 반복된 장면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989320" cy="379476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프로젝트를 거듭해도 — 비용은 다시 들고, 자산은 남지 않는다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24128" y="5330952"/>
            <a:ext cx="521208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24128" y="2724912"/>
            <a:ext cx="0" cy="26060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07008" y="4268419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395728" y="3829507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584448" y="3390595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773168" y="2951683"/>
            <a:ext cx="1188720" cy="43891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1170432" y="4670755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359152" y="4231843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547872" y="3792931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36592" y="3354019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925312" y="2915107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120700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39572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8444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73168" y="4948732"/>
            <a:ext cx="1188720" cy="2194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117043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359152" y="491215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4787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36592" y="491215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925312" y="4934102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277063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누적 투입 비용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47823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49F0"/>
                </a:solidFill>
                <a:latin typeface="맑은 고딕"/>
                <a:ea typeface="맑은 고딕"/>
              </a:rPr>
              <a:t>남는 조직 자산 ≈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프로젝트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3852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2724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1596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04688" y="5404104"/>
            <a:ext cx="8229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… 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30568" y="2103120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0608" y="2286000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맑은 고딕"/>
                <a:ea typeface="맑은 고딕"/>
              </a:rPr>
              <a:t>✕  </a:t>
            </a:r>
            <a:r>
              <a:rPr sz="1300" b="1">
                <a:solidFill>
                  <a:srgbClr val="0C0C0C"/>
                </a:solidFill>
                <a:latin typeface="맑은 고딕"/>
                <a:ea typeface="맑은 고딕"/>
              </a:rPr>
              <a:t>전처리 파이프라인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프로젝트마다 재개발 — 노하우가 코드와 함께 소멸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30568" y="3419856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50608" y="3602736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맑은 고딕"/>
                <a:ea typeface="맑은 고딕"/>
              </a:rPr>
              <a:t>✕  </a:t>
            </a:r>
            <a:r>
              <a:rPr sz="1300" b="1">
                <a:solidFill>
                  <a:srgbClr val="0C0C0C"/>
                </a:solidFill>
                <a:latin typeface="맑은 고딕"/>
                <a:ea typeface="맑은 고딕"/>
              </a:rPr>
              <a:t>프롬프트 · 검색 설정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위키·메모·머릿속에 산재 — 담당자가 단일 장애점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30568" y="4736592"/>
            <a:ext cx="4791456" cy="1188720"/>
          </a:xfrm>
          <a:prstGeom prst="roundRect">
            <a:avLst>
              <a:gd name="adj" fmla="val 11217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50608" y="4919472"/>
            <a:ext cx="41605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A6A6A6"/>
                </a:solidFill>
                <a:latin typeface="맑은 고딕"/>
                <a:ea typeface="맑은 고딕"/>
              </a:rPr>
              <a:t>✕  </a:t>
            </a:r>
            <a:r>
              <a:rPr sz="1300" b="1">
                <a:solidFill>
                  <a:srgbClr val="0C0C0C"/>
                </a:solidFill>
                <a:latin typeface="맑은 고딕"/>
                <a:ea typeface="맑은 고딕"/>
              </a:rPr>
              <a:t>운영 로그 · 피드백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수집되지 않거나, 개선으로 연결되지 않음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5605272"/>
            <a:ext cx="47914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맑은 고딕"/>
                <a:ea typeface="맑은 고딕"/>
              </a:rPr>
              <a:t>기술이 아니라, 만든 것이 자산으로 남지 않는 ‘구조’가 문제였다.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문제의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다섯 가지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가, 다섯 곳에서, 따로 관리된다.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맑은 고딕"/>
                <a:ea typeface="맑은 고딕"/>
              </a:rPr>
              <a:t>도메인 데이터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7207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07207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맑은 고딕"/>
                <a:ea typeface="맑은 고딕"/>
              </a:rPr>
              <a:t>사내 지식 (RAG)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6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6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맑은 고딕"/>
                <a:ea typeface="맑은 고딕"/>
              </a:rPr>
              <a:t>System Prompt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87765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7765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맑은 고딕"/>
                <a:ea typeface="맑은 고딕"/>
              </a:rPr>
              <a:t>검색 설정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28044" y="2148840"/>
            <a:ext cx="2084831" cy="548640"/>
          </a:xfrm>
          <a:prstGeom prst="roundRect">
            <a:avLst>
              <a:gd name="adj" fmla="val 24305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8044" y="2167128"/>
            <a:ext cx="208483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맑은 고딕"/>
                <a:ea typeface="맑은 고딕"/>
              </a:rPr>
              <a:t>운영 로그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9343" y="2697480"/>
            <a:ext cx="4489705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49622" y="2697480"/>
            <a:ext cx="2249426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9901" y="2697480"/>
            <a:ext cx="9147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099048" y="2697480"/>
            <a:ext cx="2231132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99048" y="2697480"/>
            <a:ext cx="4471411" cy="54864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039612" y="3186684"/>
            <a:ext cx="118872" cy="118872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127248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통합점 없음 — 각자 관리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맑은 고딕"/>
                <a:ea typeface="맑은 고딕"/>
              </a:rPr>
              <a:t>8주+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신규 Agent 구축 리드타임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전처리·프롬프트·검색을 매번 처음부터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06239" y="3794760"/>
            <a:ext cx="0" cy="105156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25695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맑은 고딕"/>
                <a:ea typeface="맑은 고딕"/>
              </a:rPr>
              <a:t>30~40%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유사 기능 Agent 중복 개발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부서별로 같은 봇을 각자 구축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55278" y="3794760"/>
            <a:ext cx="0" cy="105156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174734" y="3703320"/>
            <a:ext cx="338328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 spc="-90">
                <a:solidFill>
                  <a:srgbClr val="0C0C0C"/>
                </a:solidFill>
                <a:latin typeface="맑은 고딕"/>
                <a:ea typeface="맑은 고딕"/>
              </a:rPr>
              <a:t>0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운영 → 개선 사이클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로그·피드백이 개선으로 연결되지 않음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166360"/>
            <a:ext cx="11057839" cy="932688"/>
          </a:xfrm>
          <a:prstGeom prst="roundRect">
            <a:avLst>
              <a:gd name="adj" fmla="val 14297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321808"/>
            <a:ext cx="102348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AI가 ‘운영되는 서비스’가 아니라 ‘끝나는 프로젝트’가 된다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CCCCCC"/>
                </a:solidFill>
                <a:latin typeface="맑은 고딕"/>
                <a:ea typeface="맑은 고딕"/>
              </a:rPr>
              <a:t>만들 때마다 비용은 다시 들고, 품질은 담당자에 좌우되며, 시간이 지나도 나아지지 않는다.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23620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※ 수치는 당사 프로젝트 수행 경험 기반 추정치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Industry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병목은 ‘개발’에서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‘운영’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으로 이동했다.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486400" cy="3246120"/>
          </a:xfrm>
          <a:prstGeom prst="roundRect">
            <a:avLst>
              <a:gd name="adj" fmla="val 4107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8600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기업 AI 수요의 무게중심 이동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" y="4892040"/>
            <a:ext cx="457200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07008" y="3200400"/>
            <a:ext cx="1051560" cy="219456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58568" y="3419856"/>
            <a:ext cx="1051560" cy="292608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10128" y="3712464"/>
            <a:ext cx="1051560" cy="256032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61688" y="3968496"/>
            <a:ext cx="1051560" cy="146304"/>
          </a:xfrm>
          <a:prstGeom prst="line">
            <a:avLst/>
          </a:prstGeom>
          <a:ln w="2540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170432" y="3163824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21992" y="3383280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73552" y="3675888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5112" y="3931920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376672" y="4078224"/>
            <a:ext cx="73152" cy="73152"/>
          </a:xfrm>
          <a:prstGeom prst="ellipse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 flipV="1">
            <a:off x="1207008" y="4078224"/>
            <a:ext cx="1051560" cy="21945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258568" y="3749040"/>
            <a:ext cx="1051560" cy="329184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310128" y="3419856"/>
            <a:ext cx="1051560" cy="329184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361688" y="3108960"/>
            <a:ext cx="1051560" cy="31089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170432" y="426110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21992" y="4041648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273552" y="371246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25112" y="338328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376672" y="307238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24528" y="2715768"/>
            <a:ext cx="1554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0049F0"/>
                </a:solidFill>
                <a:latin typeface="맑은 고딕"/>
                <a:ea typeface="맑은 고딕"/>
              </a:rPr>
              <a:t>운영·개선 수요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50208" y="4233672"/>
            <a:ext cx="1828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신규 구축(PoC) 수요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2023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3852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9008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4164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3208" y="495604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2027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73368" y="210312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맑은 고딕"/>
                <a:ea typeface="맑은 고딕"/>
              </a:rPr>
              <a:t>PoC → 운영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373368" y="248716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373368" y="260604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맑은 고딕"/>
                <a:ea typeface="맑은 고딕"/>
              </a:rPr>
              <a:t>‘만들 수 있는가’에서 ‘계속 잘 돌아가는가’로 — 운영 단계 좌초가 다수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73368" y="320040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맑은 고딕"/>
                <a:ea typeface="맑은 고딕"/>
              </a:rPr>
              <a:t>1 → N개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373368" y="358444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373368" y="370332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맑은 고딕"/>
                <a:ea typeface="맑은 고딕"/>
              </a:rPr>
              <a:t>기업당 특화 Agent 수십 개 시대 — 개별 관리는 10개부터 통제 불능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429768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맑은 고딕"/>
                <a:ea typeface="맑은 고딕"/>
              </a:rPr>
              <a:t>AgentOps 공백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373368" y="4681728"/>
            <a:ext cx="448056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373368" y="4800600"/>
            <a:ext cx="4572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맑은 고딕"/>
                <a:ea typeface="맑은 고딕"/>
              </a:rPr>
              <a:t>Agent 형상관리 표준 부재 — 한국어·On-prem 수요는 더 비어 있다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532120"/>
            <a:ext cx="11057839" cy="713232"/>
          </a:xfrm>
          <a:prstGeom prst="roundRect">
            <a:avLst>
              <a:gd name="adj" fmla="val 18696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2688" y="5696712"/>
            <a:ext cx="103263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049F0"/>
                </a:solidFill>
                <a:latin typeface="맑은 고딕"/>
                <a:ea typeface="맑은 고딕"/>
              </a:rPr>
              <a:t>Insight — </a:t>
            </a: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기업 AI의 경쟁력은 ‘모델’이 아니라, 지식 → Agent → 운영 → 개선을 돌리는 체계에서 나온다.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고객 Pain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세 개의 자리,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하나의 고통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 — 교집합은 ‘운영 체계 부재’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23134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3225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AI 개발팀장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4328" y="22860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“봇 하나 추가하는데 왜 두 달이 걸리죠?”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전처리·프롬프트 재작업 → 리드타임 폭증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747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6850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6941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서비스 운영 담당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4328" y="36576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“답변이 틀렸다는데, 뭘 고쳐야 할지 모르겠어요.”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로그가 흩어져 원인 추적 불가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46320"/>
            <a:ext cx="5989320" cy="1243584"/>
          </a:xfrm>
          <a:prstGeom prst="roundRect">
            <a:avLst>
              <a:gd name="adj" fmla="val 1072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5056632"/>
            <a:ext cx="1572768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065776"/>
            <a:ext cx="15727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정보보호 · 경영진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24328" y="5029200"/>
            <a:ext cx="374903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“부서마다 AI를 따로 만드는데, 통제가 됩니까?”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중복 투자 · 이력 부재 · 보안 리스크</a:t>
            </a:r>
          </a:p>
        </p:txBody>
      </p:sp>
      <p:sp>
        <p:nvSpPr>
          <p:cNvPr id="23" name="Oval 22"/>
          <p:cNvSpPr/>
          <p:nvPr/>
        </p:nvSpPr>
        <p:spPr>
          <a:xfrm>
            <a:off x="7296912" y="2267712"/>
            <a:ext cx="2286000" cy="2286000"/>
          </a:xfrm>
          <a:prstGeom prst="ellipse">
            <a:avLst/>
          </a:prstGeom>
          <a:noFill/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650224" y="2267712"/>
            <a:ext cx="2286000" cy="2286000"/>
          </a:xfrm>
          <a:prstGeom prst="ellipse">
            <a:avLst/>
          </a:prstGeom>
          <a:noFill/>
          <a:ln w="190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73568" y="3346704"/>
            <a:ext cx="2286000" cy="2286000"/>
          </a:xfrm>
          <a:prstGeom prst="ellipse">
            <a:avLst/>
          </a:prstGeom>
          <a:noFill/>
          <a:ln w="2540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19933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7384" y="1993392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운영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19288" y="567842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맑은 고딕"/>
                <a:ea typeface="맑은 고딕"/>
              </a:rPr>
              <a:t>보안 · 경영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3557016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900" b="1">
                <a:solidFill>
                  <a:srgbClr val="7A7A7A"/>
                </a:solidFill>
                <a:latin typeface="맑은 고딕"/>
                <a:ea typeface="맑은 고딕"/>
              </a:rPr>
              <a:t>공통분모</a:t>
            </a:r>
          </a:p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운영 체계 부재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솔루션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One Console AI —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하나의 콘솔, 하나의 선순환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11" name="Oval 10"/>
          <p:cNvSpPr/>
          <p:nvPr/>
        </p:nvSpPr>
        <p:spPr>
          <a:xfrm>
            <a:off x="4800600" y="2770632"/>
            <a:ext cx="2596896" cy="2596896"/>
          </a:xfrm>
          <a:prstGeom prst="ellipse">
            <a:avLst/>
          </a:prstGeom>
          <a:noFill/>
          <a:ln w="1778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 rot="2700000">
            <a:off x="6889173" y="301377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맑은 고딕"/>
                <a:ea typeface="맑은 고딕"/>
              </a:rPr>
              <a:t>➔</a:t>
            </a:r>
          </a:p>
        </p:txBody>
      </p:sp>
      <p:sp>
        <p:nvSpPr>
          <p:cNvPr id="13" name="TextBox 12"/>
          <p:cNvSpPr txBox="1"/>
          <p:nvPr/>
        </p:nvSpPr>
        <p:spPr>
          <a:xfrm rot="8100000">
            <a:off x="6889173" y="485006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맑은 고딕"/>
                <a:ea typeface="맑은 고딕"/>
              </a:rP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 rot="13500000">
            <a:off x="5052890" y="4850061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맑은 고딕"/>
                <a:ea typeface="맑은 고딕"/>
              </a:rPr>
              <a:t>➔</a:t>
            </a:r>
          </a:p>
        </p:txBody>
      </p:sp>
      <p:sp>
        <p:nvSpPr>
          <p:cNvPr id="15" name="TextBox 14"/>
          <p:cNvSpPr txBox="1"/>
          <p:nvPr/>
        </p:nvSpPr>
        <p:spPr>
          <a:xfrm rot="18900000">
            <a:off x="5052890" y="301377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0049F0"/>
                </a:solidFill>
                <a:latin typeface="맑은 고딕"/>
                <a:ea typeface="맑은 고딕"/>
              </a:rPr>
              <a:t>➔</a:t>
            </a:r>
          </a:p>
        </p:txBody>
      </p:sp>
      <p:sp>
        <p:nvSpPr>
          <p:cNvPr id="16" name="Oval 15"/>
          <p:cNvSpPr/>
          <p:nvPr/>
        </p:nvSpPr>
        <p:spPr>
          <a:xfrm>
            <a:off x="5358384" y="3328416"/>
            <a:ext cx="1481328" cy="14813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3794760"/>
            <a:ext cx="148132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1150" b="1">
                <a:solidFill>
                  <a:srgbClr val="0049F0"/>
                </a:solidFill>
                <a:latin typeface="맑은 고딕"/>
                <a:ea typeface="맑은 고딕"/>
              </a:rPr>
              <a:t>One Console</a:t>
            </a:r>
          </a:p>
          <a:p>
            <a:pPr algn="ctr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맑은 고딕"/>
                <a:ea typeface="맑은 고딕"/>
              </a:rPr>
              <a:t>하나의 콘솔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1655064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28616" y="1792224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맑은 고딕"/>
                <a:ea typeface="맑은 고딕"/>
              </a:rPr>
              <a:t>① Knowledge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흩어진 문서를 RAG 파이프라인으로 정제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363016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18704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맑은 고딕"/>
                <a:ea typeface="맑은 고딕"/>
              </a:rPr>
              <a:t>② Agent Config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bot_type 키로 프롬프트·검색 범위 형상관리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27448" y="559612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616" y="573328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맑은 고딕"/>
                <a:ea typeface="맑은 고딕"/>
              </a:rPr>
              <a:t>③ AI Agent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REST API로 형상을 호출, 서비스로 수렴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45920" y="3630168"/>
            <a:ext cx="2834640" cy="877824"/>
          </a:xfrm>
          <a:prstGeom prst="roundRect">
            <a:avLst>
              <a:gd name="adj" fmla="val 1519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47088" y="3767328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0049F0"/>
                </a:solidFill>
                <a:latin typeface="맑은 고딕"/>
                <a:ea typeface="맑은 고딕"/>
              </a:rPr>
              <a:t>④ 운영 · 개선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로그·피드백이 콘솔로 되돌아와 다음 개선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172200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7A7A7A"/>
                </a:solidFill>
                <a:latin typeface="맑은 고딕"/>
                <a:ea typeface="맑은 고딕"/>
              </a:rPr>
              <a:t>④ → ① 운영 신호가 지식과 형상으로 되돌아온다 — 운영할수록 좋아지는 폐쇄 루프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핵심 기능 ① Knowledge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어떤 문서든,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같은 규칙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으로 지식이 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Confluence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97864" y="2432304"/>
            <a:ext cx="237744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9385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385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PDF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435608" y="2432304"/>
            <a:ext cx="11338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101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Excel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435608" y="2432304"/>
            <a:ext cx="25054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681728" y="210312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112264"/>
            <a:ext cx="12618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이미지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435608" y="2432304"/>
            <a:ext cx="3877056" cy="35661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entagon 22"/>
          <p:cNvSpPr/>
          <p:nvPr/>
        </p:nvSpPr>
        <p:spPr>
          <a:xfrm>
            <a:off x="566928" y="2788920"/>
            <a:ext cx="1789633" cy="694944"/>
          </a:xfrm>
          <a:prstGeom prst="homePlate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맑은 고딕"/>
                <a:ea typeface="맑은 고딕"/>
              </a:rPr>
              <a:t>수집</a:t>
            </a:r>
          </a:p>
        </p:txBody>
      </p:sp>
      <p:sp>
        <p:nvSpPr>
          <p:cNvPr id="24" name="Chevron 23"/>
          <p:cNvSpPr/>
          <p:nvPr/>
        </p:nvSpPr>
        <p:spPr>
          <a:xfrm>
            <a:off x="2420569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맑은 고딕"/>
                <a:ea typeface="맑은 고딕"/>
              </a:rPr>
              <a:t>추출</a:t>
            </a:r>
          </a:p>
        </p:txBody>
      </p:sp>
      <p:sp>
        <p:nvSpPr>
          <p:cNvPr id="25" name="Chevron 24"/>
          <p:cNvSpPr/>
          <p:nvPr/>
        </p:nvSpPr>
        <p:spPr>
          <a:xfrm>
            <a:off x="4274210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맑은 고딕"/>
                <a:ea typeface="맑은 고딕"/>
              </a:rPr>
              <a:t>전처리</a:t>
            </a:r>
          </a:p>
        </p:txBody>
      </p:sp>
      <p:sp>
        <p:nvSpPr>
          <p:cNvPr id="26" name="Chevron 25"/>
          <p:cNvSpPr/>
          <p:nvPr/>
        </p:nvSpPr>
        <p:spPr>
          <a:xfrm>
            <a:off x="6127851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맑은 고딕"/>
                <a:ea typeface="맑은 고딕"/>
              </a:rPr>
              <a:t>가공</a:t>
            </a:r>
          </a:p>
        </p:txBody>
      </p:sp>
      <p:sp>
        <p:nvSpPr>
          <p:cNvPr id="27" name="Chevron 26"/>
          <p:cNvSpPr/>
          <p:nvPr/>
        </p:nvSpPr>
        <p:spPr>
          <a:xfrm>
            <a:off x="7981492" y="2788920"/>
            <a:ext cx="1789633" cy="694944"/>
          </a:xfrm>
          <a:prstGeom prst="chevron">
            <a:avLst/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0C0C0C"/>
                </a:solidFill>
                <a:latin typeface="맑은 고딕"/>
                <a:ea typeface="맑은 고딕"/>
              </a:rPr>
              <a:t>적재</a:t>
            </a:r>
          </a:p>
        </p:txBody>
      </p:sp>
      <p:sp>
        <p:nvSpPr>
          <p:cNvPr id="28" name="Chevron 27"/>
          <p:cNvSpPr/>
          <p:nvPr/>
        </p:nvSpPr>
        <p:spPr>
          <a:xfrm>
            <a:off x="9835133" y="2788920"/>
            <a:ext cx="1789633" cy="694944"/>
          </a:xfrm>
          <a:prstGeom prst="chevron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RAGaaS 동기화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3794760"/>
            <a:ext cx="5349240" cy="2286000"/>
          </a:xfrm>
          <a:prstGeom prst="roundRect">
            <a:avLst>
              <a:gd name="adj" fmla="val 5833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023360"/>
            <a:ext cx="47548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800"/>
              </a:spcAft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가공 단계 출력 규칙 — 전 파이프라인 강제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✓  모든 출력은 반드시 한국어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✓  서론 · 결론 · 인사말 금지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✓  추측성 표현 금지 (“~인 것 같습니다” 차단)</a:t>
            </a:r>
          </a:p>
          <a:p>
            <a:pPr algn="l">
              <a:lnSpc>
                <a:spcPct val="118000"/>
              </a:lnSpc>
              <a:spcAft>
                <a:spcPts val="700"/>
              </a:spcAft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✓  사실 위주의 건조하고 명확한 문장</a:t>
            </a:r>
          </a:p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맑은 고딕"/>
                <a:ea typeface="맑은 고딕"/>
              </a:rPr>
              <a:t>규칙 위반 출력은 적재 전 자동 반려 · 재생성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0488" y="3794760"/>
            <a:ext cx="5431536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4023360"/>
            <a:ext cx="47548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600" b="1" spc="-60">
                <a:solidFill>
                  <a:srgbClr val="A6A6A6"/>
                </a:solidFill>
                <a:latin typeface="맑은 고딕"/>
                <a:ea typeface="맑은 고딕"/>
              </a:rPr>
              <a:t>8주+</a:t>
            </a:r>
            <a:r>
              <a:rPr sz="1800" b="0">
                <a:solidFill>
                  <a:srgbClr val="A6A6A6"/>
                </a:solidFill>
                <a:latin typeface="맑은 고딕"/>
                <a:ea typeface="맑은 고딕"/>
              </a:rPr>
              <a:t>  →  </a:t>
            </a:r>
            <a:r>
              <a:rPr sz="2600" b="1" spc="-60">
                <a:solidFill>
                  <a:srgbClr val="0049F0"/>
                </a:solidFill>
                <a:latin typeface="맑은 고딕"/>
                <a:ea typeface="맑은 고딕"/>
              </a:rPr>
              <a:t>수일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0C0C0C"/>
                </a:solidFill>
                <a:latin typeface="맑은 고딕"/>
                <a:ea typeface="맑은 고딕"/>
              </a:rPr>
              <a:t>신규 지식 구축 리드타임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10528" y="5029200"/>
            <a:ext cx="4206240" cy="256032"/>
          </a:xfrm>
          <a:prstGeom prst="roundRect">
            <a:avLst>
              <a:gd name="adj" fmla="val 22321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510528" y="5394960"/>
            <a:ext cx="504748" cy="256032"/>
          </a:xfrm>
          <a:prstGeom prst="roundRect">
            <a:avLst>
              <a:gd name="adj" fmla="val 2232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0" y="5029200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현행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8428" y="53949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맑은 고딕"/>
                <a:ea typeface="맑은 고딕"/>
              </a:rPr>
              <a:t>플랫폼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5779008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7A7A7A"/>
                </a:solidFill>
                <a:latin typeface="맑은 고딕"/>
                <a:ea typeface="맑은 고딕"/>
              </a:rPr>
              <a:t>노하우가 플랫폼 기능으로 축적 · 최신성 자동 추적 · Index 단위 보안 경계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핵심 기능 ② Agent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bot_type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 — 하나의 키가 모든 형상을 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3108960" cy="2286000"/>
          </a:xfrm>
          <a:prstGeom prst="roundRect">
            <a:avLst>
              <a:gd name="adj" fmla="val 5833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487168"/>
            <a:ext cx="2560320" cy="1783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00" b="1">
                <a:solidFill>
                  <a:srgbClr val="4D82FF"/>
                </a:solidFill>
                <a:latin typeface="맑은 고딕"/>
                <a:ea typeface="맑은 고딕"/>
              </a:rPr>
              <a:t>고유 KEY</a:t>
            </a:r>
          </a:p>
          <a:p>
            <a:pPr algn="l">
              <a:lnSpc>
                <a:spcPct val="120000"/>
              </a:lnSpc>
            </a:pPr>
            <a:r>
              <a:rPr sz="2700" b="1" spc="-50">
                <a:solidFill>
                  <a:srgbClr val="FFFFFF"/>
                </a:solidFill>
                <a:latin typeface="맑은 고딕"/>
                <a:ea typeface="맑은 고딕"/>
              </a:rPr>
              <a:t>bot_type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CCCCCC"/>
                </a:solidFill>
                <a:latin typeface="맑은 고딕"/>
                <a:ea typeface="맑은 고딕"/>
              </a:rPr>
              <a:t>생성 시 정하는 이 키에 형상이 매달리고,
외부 호출도 이 키 하나로 식별됩니다.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675888" y="2459735"/>
            <a:ext cx="1051560" cy="87782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727448" y="208483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220370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맑은 고딕"/>
                <a:ea typeface="맑은 고딕"/>
              </a:rPr>
              <a:t>① 에이전트 생성</a:t>
            </a: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    이름 · 도메인 · 담당자 등록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675888" y="3328415"/>
            <a:ext cx="1051560" cy="914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727448" y="295351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1768" y="307238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맑은 고딕"/>
                <a:ea typeface="맑은 고딕"/>
              </a:rPr>
              <a:t>② System Prompt</a:t>
            </a: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    말투·역할 — 저장마다 새 버전, 원클릭 롤백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75888" y="3337560"/>
            <a:ext cx="1051560" cy="859535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727448" y="3822191"/>
            <a:ext cx="6537960" cy="749808"/>
          </a:xfrm>
          <a:prstGeom prst="roundRect">
            <a:avLst>
              <a:gd name="adj" fmla="val 1778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1768" y="3941063"/>
            <a:ext cx="6035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맑은 고딕"/>
                <a:ea typeface="맑은 고딕"/>
              </a:rPr>
              <a:t>③ 벡터 검색 설정</a:t>
            </a: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    Index · Top-K · 유사도 · 출처 인용 강제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4873752"/>
            <a:ext cx="1280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7A7A7A"/>
                </a:solidFill>
                <a:latin typeface="맑은 고딕"/>
                <a:ea typeface="맑은 고딕"/>
              </a:rPr>
              <a:t>형상 완성도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16168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57416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598664" y="4892040"/>
            <a:ext cx="749808" cy="219456"/>
          </a:xfrm>
          <a:prstGeom prst="roundRect">
            <a:avLst>
              <a:gd name="adj" fmla="val 2170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4873752"/>
            <a:ext cx="2651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맑은 고딕"/>
                <a:ea typeface="맑은 고딕"/>
              </a:rPr>
              <a:t>3/3 → 자동 ‘운영’ 전환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4128" y="5687568"/>
            <a:ext cx="5943600" cy="0"/>
          </a:xfrm>
          <a:prstGeom prst="line">
            <a:avLst/>
          </a:prstGeom>
          <a:ln w="1524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8408" y="55778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v1.0</a:t>
            </a:r>
          </a:p>
        </p:txBody>
      </p:sp>
      <p:sp>
        <p:nvSpPr>
          <p:cNvPr id="30" name="Oval 29"/>
          <p:cNvSpPr/>
          <p:nvPr/>
        </p:nvSpPr>
        <p:spPr>
          <a:xfrm>
            <a:off x="3675888" y="557784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670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0">
                <a:solidFill>
                  <a:srgbClr val="7A7A7A"/>
                </a:solidFill>
                <a:latin typeface="맑은 고딕"/>
                <a:ea typeface="맑은 고딕"/>
              </a:rPr>
              <a:t>v1.1</a:t>
            </a:r>
          </a:p>
        </p:txBody>
      </p:sp>
      <p:sp>
        <p:nvSpPr>
          <p:cNvPr id="32" name="Oval 31"/>
          <p:cNvSpPr/>
          <p:nvPr/>
        </p:nvSpPr>
        <p:spPr>
          <a:xfrm>
            <a:off x="6373368" y="5577840"/>
            <a:ext cx="219456" cy="219456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44184" y="5870448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00" b="1">
                <a:solidFill>
                  <a:srgbClr val="0049F0"/>
                </a:solidFill>
                <a:latin typeface="맑은 고딕"/>
                <a:ea typeface="맑은 고딕"/>
              </a:rPr>
              <a:t>v1.2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7808" y="5532120"/>
            <a:ext cx="374903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C0C0C"/>
                </a:solidFill>
                <a:latin typeface="맑은 고딕"/>
                <a:ea typeface="맑은 고딕"/>
              </a:rPr>
              <a:t>모든 변경이 버전으로 기록 — 문제 시 즉시 롤백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핵심 기능 ③ 운영 · 개선 루프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운영 신호가,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콘솔로 되돌아온다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수집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답변 로그 전건 기록
피드백 · 사용량 회귀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096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판정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★2 이하 → 개선 큐
인용 실패 → 지식 공백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560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BFBFB"/>
          </a:solidFill>
          <a:ln w="1651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조치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Prompt 새 버전 배포
검색 조정 · 재수집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10244" y="2578608"/>
            <a:ext cx="274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A6A6A6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70848" y="2103120"/>
            <a:ext cx="2560320" cy="1389888"/>
          </a:xfrm>
          <a:prstGeom prst="roundRect">
            <a:avLst>
              <a:gd name="adj" fmla="val 9594"/>
            </a:avLst>
          </a:prstGeom>
          <a:solidFill>
            <a:srgbClr val="FFFFFF"/>
          </a:solidFill>
          <a:ln w="16510">
            <a:solidFill>
              <a:srgbClr val="0049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304288"/>
            <a:ext cx="21031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350" b="1">
                <a:solidFill>
                  <a:srgbClr val="0049F0"/>
                </a:solidFill>
                <a:latin typeface="맑은 고딕"/>
                <a:ea typeface="맑은 고딕"/>
              </a:rPr>
              <a:t>형상 기록</a:t>
            </a:r>
          </a:p>
          <a:p>
            <a:pPr algn="l">
              <a:lnSpc>
                <a:spcPct val="122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개선 전후를 버전 비교
효과가 데이터로 증명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40480"/>
            <a:ext cx="5852160" cy="224028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02336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맑은 고딕"/>
                <a:ea typeface="맑은 고딕"/>
              </a:rPr>
              <a:t>개선 사이클 반복 → 만족도 상승 (파일럿 운영 예시)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69848" y="5760720"/>
            <a:ext cx="484632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207008" y="5257800"/>
            <a:ext cx="896112" cy="15087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103120" y="5137099"/>
            <a:ext cx="896112" cy="120701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2999232" y="4976164"/>
            <a:ext cx="896112" cy="160935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895344" y="4805172"/>
            <a:ext cx="896112" cy="170992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91456" y="4654296"/>
            <a:ext cx="896112" cy="150876"/>
          </a:xfrm>
          <a:prstGeom prst="line">
            <a:avLst/>
          </a:prstGeom>
          <a:ln w="2540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170432" y="537210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066544" y="5221224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62656" y="5100523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58768" y="4939588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54880" y="4768596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650992" y="4617720"/>
            <a:ext cx="73152" cy="73152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2416" y="5481828"/>
            <a:ext cx="640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1">
                <a:solidFill>
                  <a:srgbClr val="A6A6A6"/>
                </a:solidFill>
                <a:latin typeface="맑은 고딕"/>
                <a:ea typeface="맑은 고딕"/>
              </a:rPr>
              <a:t>86%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4398264"/>
            <a:ext cx="731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>
                <a:solidFill>
                  <a:srgbClr val="0049F0"/>
                </a:solidFill>
                <a:latin typeface="맑은 고딕"/>
                <a:ea typeface="맑은 고딕"/>
              </a:rPr>
              <a:t>94%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5806440"/>
            <a:ext cx="4846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개선 사이클 1 → 6회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93408" y="3840480"/>
            <a:ext cx="4928616" cy="2240280"/>
          </a:xfrm>
          <a:prstGeom prst="roundRect">
            <a:avLst>
              <a:gd name="adj" fmla="val 5952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3448" y="4069080"/>
            <a:ext cx="4297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spc="-40">
                <a:solidFill>
                  <a:srgbClr val="4D82FF"/>
                </a:solidFill>
                <a:latin typeface="맑은 고딕"/>
                <a:ea typeface="맑은 고딕"/>
              </a:rPr>
              <a:t>4시간+ </a:t>
            </a: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멈춘 작업 자동 정리</a:t>
            </a:r>
          </a:p>
          <a:p>
            <a:pPr algn="l">
              <a:lnSpc>
                <a:spcPct val="126000"/>
              </a:lnSpc>
              <a:spcAft>
                <a:spcPts val="900"/>
              </a:spcAft>
            </a:pPr>
            <a:r>
              <a:rPr sz="1000" b="0">
                <a:solidFill>
                  <a:srgbClr val="CCCCCC"/>
                </a:solidFill>
                <a:latin typeface="맑은 고딕"/>
                <a:ea typeface="맑은 고딕"/>
              </a:rPr>
              <a:t>장시간 running 작업을 판정·강제 종료 — 운영 안정성을 사람 없이 확보</a:t>
            </a:r>
          </a:p>
          <a:p>
            <a:pPr algn="l">
              <a:lnSpc>
                <a:spcPct val="126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“운영할수록 좋아진다”가 버전 비교로 증명 — 경쟁 입찰의 결정적 레퍼런스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개발 연동 · ITCEN-API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등록한 형상을,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REST로 그대로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 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5806440" cy="2880360"/>
          </a:xfrm>
          <a:prstGeom prst="roundRect">
            <a:avLst>
              <a:gd name="adj" fmla="val 4629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40864"/>
            <a:ext cx="51206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맑은 고딕"/>
              </a:rPr>
              <a:t># 형상 가져오기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4D82FF"/>
                </a:solidFill>
                <a:latin typeface="Consolas"/>
                <a:ea typeface="맑은 고딕"/>
              </a:rPr>
              <a:t>GET  /agent/prompt/{bot_type}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4D82FF"/>
                </a:solidFill>
                <a:latin typeface="Consolas"/>
                <a:ea typeface="맑은 고딕"/>
              </a:rPr>
              <a:t>GET  /agent/ragaas-config/{bot_type}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맑은 고딕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맑은 고딕"/>
              </a:rPr>
              <a:t># 대화 호출 — 형상(Prompt+검색) 자동 적용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맑은 고딕"/>
              </a:rPr>
              <a:t>POST /agent/chat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CCCCCC"/>
                </a:solidFill>
                <a:latin typeface="Consolas"/>
                <a:ea typeface="맑은 고딕"/>
              </a:rPr>
              <a:t>     {"bot_type": "hr-assistant",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CCCCCC"/>
                </a:solidFill>
                <a:latin typeface="Consolas"/>
                <a:ea typeface="맑은 고딕"/>
              </a:rPr>
              <a:t>      "message": "육아휴직은 최대 얼마나?"}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맑은 고딕"/>
              </a:rPr>
              <a:t/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A6A6A6"/>
                </a:solidFill>
                <a:latin typeface="Consolas"/>
                <a:ea typeface="맑은 고딕"/>
              </a:rPr>
              <a:t># 피드백 회귀 — 운영 신호의 시작점</a:t>
            </a:r>
          </a:p>
          <a:p>
            <a:pPr algn="l">
              <a:lnSpc>
                <a:spcPct val="126000"/>
              </a:lnSpc>
            </a:pPr>
            <a:r>
              <a:rPr sz="1050" b="0">
                <a:solidFill>
                  <a:srgbClr val="FFFFFF"/>
                </a:solidFill>
                <a:latin typeface="Consolas"/>
                <a:ea typeface="맑은 고딕"/>
              </a:rPr>
              <a:t>POST /agent/feedback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맑은 고딕"/>
                <a:ea typeface="맑은 고딕"/>
              </a:rPr>
              <a:t>19</a:t>
            </a: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  엔드포인트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51176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맑은 고딕"/>
                <a:ea typeface="맑은 고딕"/>
              </a:rPr>
              <a:t>3</a:t>
            </a: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  형상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35424" y="5166360"/>
            <a:ext cx="1810512" cy="658368"/>
          </a:xfrm>
          <a:prstGeom prst="roundRect">
            <a:avLst>
              <a:gd name="adj" fmla="val 2025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5257800"/>
            <a:ext cx="18105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1" spc="-30">
                <a:solidFill>
                  <a:srgbClr val="0049F0"/>
                </a:solidFill>
                <a:latin typeface="맑은 고딕"/>
                <a:ea typeface="맑은 고딕"/>
              </a:rPr>
              <a:t>0초</a:t>
            </a:r>
            <a:r>
              <a:rPr sz="950" b="0">
                <a:solidFill>
                  <a:srgbClr val="7A7A7A"/>
                </a:solidFill>
                <a:latin typeface="맑은 고딕"/>
                <a:ea typeface="맑은 고딕"/>
              </a:rPr>
              <a:t>  저장=배포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103120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0C0C0C"/>
                </a:solidFill>
                <a:latin typeface="맑은 고딕"/>
                <a:ea typeface="맑은 고딕"/>
              </a:rPr>
              <a:t>요청 한 건의 여정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0" y="2606040"/>
            <a:ext cx="0" cy="2331720"/>
          </a:xfrm>
          <a:prstGeom prst="line">
            <a:avLst/>
          </a:prstGeom>
          <a:ln w="1524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771132" y="2519172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23176" y="2487168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① 앱이 bot_type으로 질문 전송</a:t>
            </a:r>
          </a:p>
        </p:txBody>
      </p:sp>
      <p:sp>
        <p:nvSpPr>
          <p:cNvPr id="23" name="Oval 22"/>
          <p:cNvSpPr/>
          <p:nvPr/>
        </p:nvSpPr>
        <p:spPr>
          <a:xfrm>
            <a:off x="6771132" y="3095244"/>
            <a:ext cx="173736" cy="173736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23176" y="3063240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C0C0C"/>
                </a:solidFill>
                <a:latin typeface="맑은 고딕"/>
                <a:ea typeface="맑은 고딕"/>
              </a:rPr>
              <a:t>② 콘솔 형상(Prompt+검색) 자동 적용</a:t>
            </a:r>
          </a:p>
        </p:txBody>
      </p:sp>
      <p:sp>
        <p:nvSpPr>
          <p:cNvPr id="25" name="Oval 24"/>
          <p:cNvSpPr/>
          <p:nvPr/>
        </p:nvSpPr>
        <p:spPr>
          <a:xfrm>
            <a:off x="6771132" y="3671316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3176" y="3639312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③ RAGaaS Index 검색 · 근거 확보</a:t>
            </a:r>
          </a:p>
        </p:txBody>
      </p:sp>
      <p:sp>
        <p:nvSpPr>
          <p:cNvPr id="27" name="Oval 26"/>
          <p:cNvSpPr/>
          <p:nvPr/>
        </p:nvSpPr>
        <p:spPr>
          <a:xfrm>
            <a:off x="6771132" y="4247388"/>
            <a:ext cx="173736" cy="173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23176" y="4215384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④ 근거·유사도 점수와 함께 응답</a:t>
            </a:r>
          </a:p>
        </p:txBody>
      </p:sp>
      <p:sp>
        <p:nvSpPr>
          <p:cNvPr id="29" name="Oval 28"/>
          <p:cNvSpPr/>
          <p:nvPr/>
        </p:nvSpPr>
        <p:spPr>
          <a:xfrm>
            <a:off x="6771132" y="4823460"/>
            <a:ext cx="173736" cy="173736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23176" y="4791456"/>
            <a:ext cx="4114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0C0C0C"/>
                </a:solidFill>
                <a:latin typeface="맑은 고딕"/>
                <a:ea typeface="맑은 고딕"/>
              </a:rPr>
              <a:t>⑤ 피드백이 콘솔로 회귀 → 개선 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39128" y="5257800"/>
            <a:ext cx="4526280" cy="45720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39128" y="5266944"/>
            <a:ext cx="45262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LIVE DEMO — 발표장에서 실제 제품으로 시연합니다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차별성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‘만드는 도구’가 아니라,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‘좋아지게 만드는 체계’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11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2148840"/>
          <a:ext cx="68580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316736"/>
                <a:gridCol w="1316736"/>
                <a:gridCol w="1298448"/>
              </a:tblGrid>
              <a:tr h="5791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개별 구축</a:t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해외 SaaS</a:t>
                      </a:r>
                    </a:p>
                  </a:txBody>
                  <a:tcPr anchor="ctr">
                    <a:solidFill>
                      <a:srgbClr val="0C0C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One Console</a:t>
                      </a:r>
                    </a:p>
                  </a:txBody>
                  <a:tcPr anchor="ctr">
                    <a:solidFill>
                      <a:srgbClr val="0049F0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맑은 고딕"/>
                          <a:ea typeface="맑은 고딕"/>
                        </a:rPr>
                        <a:t>  한국어 사내문서 파이프라인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맑은 고딕"/>
                          <a:ea typeface="맑은 고딕"/>
                        </a:rPr>
                        <a:t>  프롬프트+검색 통합 형상관리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맑은 고딕"/>
                          <a:ea typeface="맑은 고딕"/>
                        </a:rPr>
                        <a:t>  운영 → 개선 폐쇄 루프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맑은 고딕"/>
                          <a:ea typeface="맑은 고딕"/>
                        </a:rPr>
                        <a:t>  On-prem 구축형 (공공·금융)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0C0C0C"/>
                          </a:solidFill>
                          <a:latin typeface="맑은 고딕"/>
                          <a:ea typeface="맑은 고딕"/>
                        </a:rPr>
                        <a:t>  현장 운영으로 검증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A6A6A6"/>
                          </a:solidFill>
                          <a:latin typeface="맑은 고딕"/>
                          <a:ea typeface="맑은 고딕"/>
                        </a:rPr>
                        <a:t>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49F0"/>
                          </a:solidFill>
                          <a:latin typeface="맑은 고딕"/>
                          <a:ea typeface="맑은 고딕"/>
                        </a:rPr>
                        <a:t>✓</a:t>
                      </a:r>
                    </a:p>
                  </a:txBody>
                  <a:tcPr anchor="ctr">
                    <a:solidFill>
                      <a:srgbClr val="FBFBFB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973568" y="2121408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포지셔닝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73568" y="5394960"/>
            <a:ext cx="324612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973568" y="2377440"/>
            <a:ext cx="0" cy="30175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573768" y="5440680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형상·운영 통합도 →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7662672" y="3063240"/>
            <a:ext cx="2743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국내 적합성 →</a:t>
            </a:r>
          </a:p>
        </p:txBody>
      </p:sp>
      <p:sp>
        <p:nvSpPr>
          <p:cNvPr id="17" name="Oval 16"/>
          <p:cNvSpPr/>
          <p:nvPr/>
        </p:nvSpPr>
        <p:spPr>
          <a:xfrm>
            <a:off x="8489289" y="4059021"/>
            <a:ext cx="137160" cy="13716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34909" y="4246473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맑은 고딕"/>
                <a:ea typeface="맑은 고딕"/>
              </a:rPr>
              <a:t>개별 구축</a:t>
            </a:r>
          </a:p>
        </p:txBody>
      </p:sp>
      <p:sp>
        <p:nvSpPr>
          <p:cNvPr id="19" name="Oval 18"/>
          <p:cNvSpPr/>
          <p:nvPr/>
        </p:nvSpPr>
        <p:spPr>
          <a:xfrm>
            <a:off x="10047427" y="4722876"/>
            <a:ext cx="137160" cy="137160"/>
          </a:xfrm>
          <a:prstGeom prst="ellipse">
            <a:avLst/>
          </a:prstGeom>
          <a:solidFill>
            <a:srgbClr val="A6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3047" y="4910328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0">
                <a:solidFill>
                  <a:srgbClr val="A6A6A6"/>
                </a:solidFill>
                <a:latin typeface="맑은 고딕"/>
                <a:ea typeface="맑은 고딕"/>
              </a:rPr>
              <a:t>해외 SaaS</a:t>
            </a:r>
          </a:p>
        </p:txBody>
      </p:sp>
      <p:sp>
        <p:nvSpPr>
          <p:cNvPr id="21" name="Oval 20"/>
          <p:cNvSpPr/>
          <p:nvPr/>
        </p:nvSpPr>
        <p:spPr>
          <a:xfrm>
            <a:off x="10456164" y="2866644"/>
            <a:ext cx="228600" cy="228600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7504" y="3099816"/>
            <a:ext cx="16459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00" b="1">
                <a:solidFill>
                  <a:srgbClr val="0049F0"/>
                </a:solidFill>
                <a:latin typeface="맑은 고딕"/>
                <a:ea typeface="맑은 고딕"/>
              </a:rPr>
              <a:t>One Console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589788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결정적 차이 — 이 체계는 이미 현장에서 돌아가고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아이티센 그룹 시너지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아이티센이라서,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되는 사업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6008" y="3520440"/>
            <a:ext cx="2926080" cy="1097280"/>
          </a:xfrm>
          <a:prstGeom prst="roundRect">
            <a:avLst>
              <a:gd name="adj" fmla="val 17361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3721608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One Console AI</a:t>
            </a:r>
          </a:p>
          <a:p>
            <a:pPr algn="ctr">
              <a:lnSpc>
                <a:spcPct val="118000"/>
              </a:lnSpc>
            </a:pPr>
            <a:r>
              <a:rPr sz="950" b="0">
                <a:solidFill>
                  <a:srgbClr val="FFFFFF"/>
                </a:solidFill>
                <a:latin typeface="맑은 고딕"/>
                <a:ea typeface="맑은 고딕"/>
              </a:rPr>
              <a:t>그룹 역량의 교차점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14884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35000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SI 수행력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맑은 고딕"/>
                <a:ea typeface="맑은 고딕"/>
              </a:rPr>
              <a:t>공공·금융 구축 경험 → On-prem 딜리버리 즉시 소화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31181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312724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맑은 고딕"/>
                <a:ea typeface="맑은 고딕"/>
              </a:rPr>
              <a:t>플랫폼+구축 패키지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4636008" y="2862072"/>
            <a:ext cx="45720" cy="95097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509967" y="214884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2575" y="235000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고객 기반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맑은 고딕"/>
                <a:ea typeface="맑은 고딕"/>
              </a:rPr>
              <a:t>그룹 고객망 → 파일럿·레퍼런스 최단 경로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02575" y="311810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02575" y="312724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맑은 고딕"/>
                <a:ea typeface="맑은 고딕"/>
              </a:rPr>
              <a:t>기존 계약 Add-on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09967" y="2862072"/>
            <a:ext cx="52121" cy="950976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" y="480060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500176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클라우드 · MSP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맑은 고딕"/>
                <a:ea typeface="맑은 고딕"/>
              </a:rPr>
              <a:t>그룹 클라우드와 결합 → 매니지드 운영 매출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576986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77900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맑은 고딕"/>
                <a:ea typeface="맑은 고딕"/>
              </a:rPr>
              <a:t>구독+운영 반복 매출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4636008" y="4325112"/>
            <a:ext cx="45720" cy="11887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509967" y="4800600"/>
            <a:ext cx="4114800" cy="1426464"/>
          </a:xfrm>
          <a:prstGeom prst="roundRect">
            <a:avLst>
              <a:gd name="adj" fmla="val 9348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02575" y="5001768"/>
            <a:ext cx="3566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AI 사업 표준화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2D2D2D"/>
                </a:solidFill>
                <a:latin typeface="맑은 고딕"/>
                <a:ea typeface="맑은 고딕"/>
              </a:rPr>
              <a:t>그룹 AI 공통 기반 → 원가 절감·품질 상향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02575" y="5769864"/>
            <a:ext cx="1783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02575" y="5779008"/>
            <a:ext cx="17830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1">
                <a:solidFill>
                  <a:srgbClr val="0049F0"/>
                </a:solidFill>
                <a:latin typeface="맑은 고딕"/>
                <a:ea typeface="맑은 고딕"/>
              </a:rPr>
              <a:t>내부 효율+외부 판매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509967" y="4325112"/>
            <a:ext cx="52121" cy="118872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345936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맑은 고딕"/>
                <a:ea typeface="맑은 고딕"/>
              </a:rPr>
              <a:t>우리가 매일 하는 일(SI·운영)을 반복 매출 구조로 바꾸는 사업입니다.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커지는 판,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비어 있는 자리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2423160"/>
            <a:ext cx="3474720" cy="3474720"/>
          </a:xfrm>
          <a:prstGeom prst="ellipse">
            <a:avLst/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72768" y="2990088"/>
            <a:ext cx="2340864" cy="2340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03120" y="3520440"/>
            <a:ext cx="1280160" cy="1280160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2532888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1">
                <a:solidFill>
                  <a:srgbClr val="2D2D2D"/>
                </a:solidFill>
                <a:latin typeface="맑은 고딕"/>
                <a:ea typeface="맑은 고딕"/>
              </a:rPr>
              <a:t>TAM  ~3조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18105"/>
            <a:ext cx="1828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00" b="1">
                <a:solidFill>
                  <a:srgbClr val="2D2D2D"/>
                </a:solidFill>
                <a:latin typeface="맑은 고딕"/>
                <a:ea typeface="맑은 고딕"/>
              </a:rPr>
              <a:t>SAM  ~3,000억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895344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SOM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~50억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5321808"/>
            <a:ext cx="256032" cy="301752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57800" y="5148072"/>
            <a:ext cx="256032" cy="475488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23560" y="4928616"/>
            <a:ext cx="256032" cy="694944"/>
          </a:xfrm>
          <a:prstGeom prst="roundRect">
            <a:avLst>
              <a:gd name="adj" fmla="val 11160"/>
            </a:avLst>
          </a:prstGeom>
          <a:solidFill>
            <a:srgbClr val="F5F5F7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989320" y="4663440"/>
            <a:ext cx="256032" cy="960120"/>
          </a:xfrm>
          <a:prstGeom prst="roundRect">
            <a:avLst>
              <a:gd name="adj" fmla="val 1116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60" y="5669280"/>
            <a:ext cx="20116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>
                <a:solidFill>
                  <a:srgbClr val="A6A6A6"/>
                </a:solidFill>
                <a:latin typeface="맑은 고딕"/>
                <a:ea typeface="맑은 고딕"/>
              </a:rPr>
              <a:t>’25 → ’28 시장 성장(추정)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24028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맑은 고딕"/>
                <a:ea typeface="맑은 고딕"/>
              </a:rPr>
              <a:t>왜 지금인가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675120" y="262432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675120" y="274320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맑은 고딕"/>
                <a:ea typeface="맑은 고딕"/>
              </a:rPr>
              <a:t>PoC 예산이 운영 예산으로 전환되는 변곡점 — 운영 플랫폼 구매가 시작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7472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맑은 고딕"/>
                <a:ea typeface="맑은 고딕"/>
              </a:rPr>
              <a:t>왜 비어 있나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75120" y="385876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675120" y="397764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맑은 고딕"/>
                <a:ea typeface="맑은 고딕"/>
              </a:rPr>
              <a:t>해외 SaaS는 한국어 파이프라인 · On-prem · 공공 보안 요건에 구조적으로 취약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709160"/>
            <a:ext cx="46634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1">
                <a:solidFill>
                  <a:srgbClr val="0C0C0C"/>
                </a:solidFill>
                <a:latin typeface="맑은 고딕"/>
                <a:ea typeface="맑은 고딕"/>
              </a:rPr>
              <a:t>왜 우리인가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75120" y="5093208"/>
            <a:ext cx="4434840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75120" y="5212080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2D2D2D"/>
                </a:solidFill>
                <a:latin typeface="맑은 고딕"/>
                <a:ea typeface="맑은 고딕"/>
              </a:rPr>
              <a:t>구축 소화력(SI) + 레퍼런스를 만들 고객망을 동시 보유한 사업자는 드물다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263640"/>
            <a:ext cx="10058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※ TAM 국내 기업용 생성형 AI(2027E) · SAM LLMOps/AgentOps · SOM 3년 목표(20~30사) — 추정치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수익 모델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구축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으로 열고,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구독·운영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으로 쌓는다.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맑은 고딕"/>
                <a:ea typeface="맑은 고딕"/>
              </a:rPr>
              <a:t>① 구축 (SI)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맑은 고딕"/>
                <a:ea typeface="맑은 고딕"/>
              </a:rPr>
              <a:t>1~3억 / 건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설치 + 지식 파이프라인 초기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맑은 고딕"/>
                <a:ea typeface="맑은 고딕"/>
              </a:rPr>
              <a:t>② 구독 (라이선스)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맑은 고딕"/>
                <a:ea typeface="맑은 고딕"/>
              </a:rPr>
              <a:t>월 300~1,000만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Agent 수·사용량 티어 — 핵심 반복 매출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2103120"/>
            <a:ext cx="3566160" cy="1572768"/>
          </a:xfrm>
          <a:prstGeom prst="roundRect">
            <a:avLst>
              <a:gd name="adj" fmla="val 8478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8" y="230428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1">
                <a:solidFill>
                  <a:srgbClr val="7A7A7A"/>
                </a:solidFill>
                <a:latin typeface="맑은 고딕"/>
                <a:ea typeface="맑은 고딕"/>
              </a:rPr>
              <a:t>③ 운영 (MSP)</a:t>
            </a:r>
          </a:p>
          <a:p>
            <a:pPr algn="l">
              <a:lnSpc>
                <a:spcPct val="120000"/>
              </a:lnSpc>
            </a:pPr>
            <a:r>
              <a:rPr sz="1900" b="1" spc="-40">
                <a:solidFill>
                  <a:srgbClr val="0049F0"/>
                </a:solidFill>
                <a:latin typeface="맑은 고딕"/>
                <a:ea typeface="맑은 고딕"/>
              </a:rPr>
              <a:t>월 500만~</a:t>
            </a:r>
          </a:p>
          <a:p>
            <a:pPr algn="l">
              <a:lnSpc>
                <a:spcPct val="120000"/>
              </a:lnSpc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모니터링 · 개선 리포트 · 튜닝 대행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5852160" cy="2057400"/>
          </a:xfrm>
          <a:prstGeom prst="roundRect">
            <a:avLst>
              <a:gd name="adj" fmla="val 6481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1148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맑은 고딕"/>
                <a:ea typeface="맑은 고딕"/>
              </a:rPr>
              <a:t>연차별 매출 구성 (예시) — 반복 매출 비중이 커진다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89888" y="5090465"/>
            <a:ext cx="658368" cy="624535"/>
          </a:xfrm>
          <a:prstGeom prst="roundRect">
            <a:avLst>
              <a:gd name="adj" fmla="val 4575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89888" y="4922216"/>
            <a:ext cx="658368" cy="140817"/>
          </a:xfrm>
          <a:prstGeom prst="roundRect">
            <a:avLst>
              <a:gd name="adj" fmla="val 20292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389888" y="4848607"/>
            <a:ext cx="658368" cy="46177"/>
          </a:xfrm>
          <a:prstGeom prst="roundRect">
            <a:avLst>
              <a:gd name="adj" fmla="val 50000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1년차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44368" y="5216652"/>
            <a:ext cx="658368" cy="498348"/>
          </a:xfrm>
          <a:prstGeom prst="roundRect">
            <a:avLst>
              <a:gd name="adj" fmla="val 5733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944368" y="4743451"/>
            <a:ext cx="658368" cy="445769"/>
          </a:xfrm>
          <a:prstGeom prst="roundRect">
            <a:avLst>
              <a:gd name="adj" fmla="val 641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44368" y="4554171"/>
            <a:ext cx="658368" cy="161848"/>
          </a:xfrm>
          <a:prstGeom prst="roundRect">
            <a:avLst>
              <a:gd name="adj" fmla="val 17655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2년차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98848" y="5321809"/>
            <a:ext cx="658368" cy="393191"/>
          </a:xfrm>
          <a:prstGeom prst="roundRect">
            <a:avLst>
              <a:gd name="adj" fmla="val 7267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98848" y="4522624"/>
            <a:ext cx="658368" cy="771753"/>
          </a:xfrm>
          <a:prstGeom prst="roundRect">
            <a:avLst>
              <a:gd name="adj" fmla="val 434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98848" y="4102001"/>
            <a:ext cx="658368" cy="393191"/>
          </a:xfrm>
          <a:prstGeom prst="roundRect">
            <a:avLst>
              <a:gd name="adj" fmla="val 7267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0" y="5788152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3년차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76088" y="4599432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0408" y="4572000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맑은 고딕"/>
                <a:ea typeface="맑은 고딕"/>
              </a:rPr>
              <a:t>구축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276088" y="4946904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50408" y="4919472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맑은 고딕"/>
                <a:ea typeface="맑은 고딕"/>
              </a:rPr>
              <a:t>구독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76088" y="5294376"/>
            <a:ext cx="182880" cy="182880"/>
          </a:xfrm>
          <a:prstGeom prst="roundRect">
            <a:avLst>
              <a:gd name="adj" fmla="val 20833"/>
            </a:avLst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50408" y="5266944"/>
            <a:ext cx="822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2D2D2D"/>
                </a:solidFill>
                <a:latin typeface="맑은 고딕"/>
                <a:ea typeface="맑은 고딕"/>
              </a:rPr>
              <a:t>운영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93408" y="3931920"/>
            <a:ext cx="4928616" cy="2057400"/>
          </a:xfrm>
          <a:prstGeom prst="roundRect">
            <a:avLst>
              <a:gd name="adj" fmla="val 6481"/>
            </a:avLst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13448" y="4187952"/>
            <a:ext cx="429768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700"/>
              </a:spcAft>
            </a:pPr>
            <a:r>
              <a:rPr sz="1450" b="1">
                <a:solidFill>
                  <a:srgbClr val="FFFFFF"/>
                </a:solidFill>
                <a:latin typeface="맑은 고딕"/>
                <a:ea typeface="맑은 고딕"/>
              </a:rPr>
              <a:t>지식과 형상이 쌓일수록,
떠나기 어려워진다</a:t>
            </a:r>
          </a:p>
          <a:p>
            <a:pPr algn="l">
              <a:lnSpc>
                <a:spcPct val="128000"/>
              </a:lnSpc>
            </a:pPr>
            <a:r>
              <a:rPr sz="1000" b="0">
                <a:solidFill>
                  <a:srgbClr val="CCCCCC"/>
                </a:solidFill>
                <a:latin typeface="맑은 고딕"/>
                <a:ea typeface="맑은 고딕"/>
              </a:rPr>
              <a:t>고객이 축적한 자산이 곧 전환 비용 —
1회성 SI가 3~5년 락인 구독·운영 매출로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23620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A6A6A6"/>
                </a:solidFill>
                <a:latin typeface="맑은 고딕"/>
                <a:ea typeface="맑은 고딕"/>
              </a:rPr>
              <a:t>※ 가격·구성은 예시 — 파일럿에서 지불의사 검증 후 확정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사업화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완벽한 계획보다,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실행 가능한 첫걸음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15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24128" y="3154680"/>
            <a:ext cx="10149840" cy="0"/>
          </a:xfrm>
          <a:prstGeom prst="line">
            <a:avLst/>
          </a:prstGeom>
          <a:ln w="1778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05256" y="3035808"/>
            <a:ext cx="237744" cy="237744"/>
          </a:xfrm>
          <a:prstGeom prst="ellipse">
            <a:avLst/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-73152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0049F0"/>
                </a:solidFill>
                <a:latin typeface="맑은 고딕"/>
                <a:ea typeface="맑은 고딕"/>
              </a:rPr>
              <a:t>현재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맑은 고딕"/>
                <a:ea typeface="맑은 고딕"/>
              </a:rPr>
              <a:t>MVP 검증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-347472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· 콘솔+API+파이프라인 구현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· 현장에서 운영 모델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데모 가능</a:t>
            </a:r>
          </a:p>
        </p:txBody>
      </p:sp>
      <p:sp>
        <p:nvSpPr>
          <p:cNvPr id="17" name="Oval 16"/>
          <p:cNvSpPr/>
          <p:nvPr/>
        </p:nvSpPr>
        <p:spPr>
          <a:xfrm>
            <a:off x="428853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1012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~ 6개월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맑은 고딕"/>
                <a:ea typeface="맑은 고딕"/>
              </a:rPr>
              <a:t>유상 파일럿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· 그룹 고객 1~2사 PoC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· 지불의사 · 가격 검증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0156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156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파일럿 1건 계약</a:t>
            </a:r>
          </a:p>
        </p:txBody>
      </p:sp>
      <p:sp>
        <p:nvSpPr>
          <p:cNvPr id="22" name="Oval 21"/>
          <p:cNvSpPr/>
          <p:nvPr/>
        </p:nvSpPr>
        <p:spPr>
          <a:xfrm>
            <a:off x="767181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~ 18개월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맑은 고딕"/>
                <a:ea typeface="맑은 고딕"/>
              </a:rPr>
              <a:t>제품화 v1.0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· 멀티테넌트 · 설치형 패키징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· 공공·금융 진입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8484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레퍼런스 2~3건</a:t>
            </a:r>
          </a:p>
        </p:txBody>
      </p:sp>
      <p:sp>
        <p:nvSpPr>
          <p:cNvPr id="27" name="Oval 26"/>
          <p:cNvSpPr/>
          <p:nvPr/>
        </p:nvSpPr>
        <p:spPr>
          <a:xfrm>
            <a:off x="11055096" y="303580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6688" y="2286000"/>
            <a:ext cx="21945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300"/>
              </a:spcAft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18개월 ~</a:t>
            </a:r>
          </a:p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0C0C0C"/>
                </a:solidFill>
                <a:latin typeface="맑은 고딕"/>
                <a:ea typeface="맑은 고딕"/>
              </a:rPr>
              <a:t>산업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3410712"/>
            <a:ext cx="27432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· 산업별 템플릿 · 파트너 채널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950" b="0">
                <a:solidFill>
                  <a:srgbClr val="2D2D2D"/>
                </a:solidFill>
                <a:latin typeface="맑은 고딕"/>
                <a:ea typeface="맑은 고딕"/>
              </a:rPr>
              <a:t>· MSP 운영 매출 본격화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68128" y="4453128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8128" y="4462272"/>
            <a:ext cx="20116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2D2D2D"/>
                </a:solidFill>
                <a:latin typeface="맑은 고딕"/>
                <a:ea typeface="맑은 고딕"/>
              </a:rPr>
              <a:t>고객 20~30사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394960"/>
            <a:ext cx="11057839" cy="777240"/>
          </a:xfrm>
          <a:prstGeom prst="roundRect">
            <a:avLst>
              <a:gd name="adj" fmla="val 17156"/>
            </a:avLst>
          </a:prstGeom>
          <a:solidFill>
            <a:srgbClr val="FBFBFB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5577840"/>
            <a:ext cx="102348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1">
                <a:solidFill>
                  <a:srgbClr val="0049F0"/>
                </a:solidFill>
                <a:latin typeface="맑은 고딕"/>
                <a:ea typeface="맑은 고딕"/>
              </a:rPr>
              <a:t>첫걸음은 이미 뗐습니다 — </a:t>
            </a:r>
            <a:r>
              <a:rPr sz="1250" b="1">
                <a:solidFill>
                  <a:srgbClr val="0C0C0C"/>
                </a:solidFill>
                <a:latin typeface="맑은 고딕"/>
                <a:ea typeface="맑은 고딕"/>
              </a:rPr>
              <a:t>필요한 것은 파일럿 고객 1개사와 소규모 TF. 6개월 내 유상 레퍼런스로 증명하겠습니다.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7A7A7A"/>
                </a:solidFill>
                <a:latin typeface="맑은 고딕"/>
                <a:ea typeface="맑은 고딕"/>
              </a:rPr>
              <a:t>One Console AI — AI Agent 통합 형상관리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68096"/>
            <a:ext cx="548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049F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0432" y="768096"/>
            <a:ext cx="86868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0C0C0C"/>
                </a:solidFill>
                <a:latin typeface="맑은 고딕"/>
                <a:ea typeface="맑은 고딕"/>
              </a:rPr>
              <a:t>실행력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82296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1">
                <a:solidFill>
                  <a:srgbClr val="7A7A7A"/>
                </a:solidFill>
                <a:latin typeface="맑은 고딕"/>
                <a:ea typeface="맑은 고딕"/>
              </a:rPr>
              <a:t>ITCEN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1252728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78408" y="1252728"/>
            <a:ext cx="10646359" cy="0"/>
          </a:xfrm>
          <a:prstGeom prst="line">
            <a:avLst/>
          </a:prstGeom>
          <a:ln w="12700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1444752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아이디어가 아니라, </a:t>
            </a:r>
            <a:r>
              <a:rPr sz="1700" b="1">
                <a:solidFill>
                  <a:srgbClr val="0049F0"/>
                </a:solidFill>
                <a:latin typeface="맑은 고딕"/>
                <a:ea typeface="맑은 고딕"/>
              </a:rPr>
              <a:t>제품으로</a:t>
            </a:r>
            <a:r>
              <a:rPr sz="1700" b="1">
                <a:solidFill>
                  <a:srgbClr val="0C0C0C"/>
                </a:solidFill>
                <a:latin typeface="맑은 고딕"/>
                <a:ea typeface="맑은 고딕"/>
              </a:rPr>
              <a:t> 왔습니다.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950" b="1">
                <a:solidFill>
                  <a:srgbClr val="A6A6A6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057400"/>
            <a:ext cx="2743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1">
                <a:solidFill>
                  <a:srgbClr val="7A7A7A"/>
                </a:solidFill>
                <a:latin typeface="맑은 고딕"/>
                <a:ea typeface="맑은 고딕"/>
              </a:rPr>
              <a:t>제품 준비도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53167" y="2057400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</a:pPr>
            <a:r>
              <a:rPr sz="1050" b="1">
                <a:solidFill>
                  <a:srgbClr val="0049F0"/>
                </a:solidFill>
                <a:latin typeface="맑은 고딕"/>
                <a:ea typeface="맑은 고딕"/>
              </a:rPr>
              <a:t>4 / 5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✓ 콘솔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96783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96783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✓ ITCEN-API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6639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6639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✓ RAG 파이프라인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56495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56495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✓ 운영 루프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86351" y="2359152"/>
            <a:ext cx="2138415" cy="365760"/>
          </a:xfrm>
          <a:prstGeom prst="roundRect">
            <a:avLst>
              <a:gd name="adj" fmla="val 18229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86351" y="2423160"/>
            <a:ext cx="2138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950" b="1">
                <a:solidFill>
                  <a:srgbClr val="7A7A7A"/>
                </a:solidFill>
                <a:latin typeface="맑은 고딕"/>
                <a:ea typeface="맑은 고딕"/>
              </a:rPr>
              <a:t>엔터프라이즈 요건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017520"/>
            <a:ext cx="5394960" cy="2834640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246120"/>
            <a:ext cx="4709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이미 만들어 둔 것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관리 콘솔 8개 화면 — 지식·형상·운영·개선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ITCEN-API 19개 REST 엔드포인트 + Swagger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RAG 파이프라인 (추출→전처리→가공→적재)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bot_type 형상관리 — 버전 · 롤백 · 즉시 배포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0049F0"/>
                </a:solidFill>
                <a:latin typeface="맑은 고딕"/>
                <a:ea typeface="맑은 고딕"/>
              </a:rPr>
              <a:t>✓  </a:t>
            </a: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운영 루프 — 피드백 회귀 · 멈춘 작업(4h+) 정리</a:t>
            </a:r>
          </a:p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49F0"/>
                </a:solidFill>
                <a:latin typeface="맑은 고딕"/>
                <a:ea typeface="맑은 고딕"/>
              </a:rPr>
              <a:t>→ 발표장에서 라이브 데모로 확인시켜 드립니다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6208" y="3017520"/>
            <a:ext cx="5394960" cy="2834640"/>
          </a:xfrm>
          <a:prstGeom prst="roundRect">
            <a:avLst>
              <a:gd name="adj" fmla="val 4704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246120"/>
            <a:ext cx="466344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50" b="1">
                <a:solidFill>
                  <a:srgbClr val="0C0C0C"/>
                </a:solidFill>
                <a:latin typeface="맑은 고딕"/>
                <a:ea typeface="맑은 고딕"/>
              </a:rPr>
              <a:t>다음 단계를 위해 필요한 것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·  TF 4~6인 (기획 1 · 개발 3 · AI 1) — 6개월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·  파일럿 고객 1~2사 연결 (그룹 영업망 협조)</a:t>
            </a:r>
          </a:p>
          <a:p>
            <a:pPr algn="l">
              <a:lnSpc>
                <a:spcPct val="120000"/>
              </a:lnSpc>
              <a:spcAft>
                <a:spcPts val="1100"/>
              </a:spcAft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·  엔터프라이즈 보안 요건 보강 예산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200" b="1">
                <a:solidFill>
                  <a:srgbClr val="0049F0"/>
                </a:solidFill>
                <a:latin typeface="맑은 고딕"/>
                <a:ea typeface="맑은 고딕"/>
              </a:rPr>
              <a:t>6개월 목표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·  유상 파일럿 1건 계약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2D2D2D"/>
                </a:solidFill>
                <a:latin typeface="맑은 고딕"/>
                <a:ea typeface="맑은 고딕"/>
              </a:rPr>
              <a:t>·  운영 데이터로 개선 효과 정량 입증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126480"/>
            <a:ext cx="1105783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1150" b="1">
                <a:solidFill>
                  <a:srgbClr val="0C0C0C"/>
                </a:solidFill>
                <a:latin typeface="맑은 고딕"/>
                <a:ea typeface="맑은 고딕"/>
              </a:rPr>
              <a:t>본 제안서의 모든 화면과 API는 제안팀이 직접 구현했습니다 — 선정 즉시, 다음 날부터 시작합니다.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566928" y="914400"/>
            <a:ext cx="402336" cy="0"/>
          </a:xfrm>
          <a:prstGeom prst="line">
            <a:avLst/>
          </a:prstGeom>
          <a:ln w="30480">
            <a:solidFill>
              <a:srgbClr val="0049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78408" y="914400"/>
            <a:ext cx="10646359" cy="0"/>
          </a:xfrm>
          <a:prstGeom prst="line">
            <a:avLst/>
          </a:prstGeom>
          <a:ln w="12700">
            <a:solidFill>
              <a:srgbClr val="3A3A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맑은 고딕"/>
                <a:ea typeface="맑은 고딕"/>
              </a:rPr>
              <a:t>One Console AI —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82880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spc="-100">
                <a:solidFill>
                  <a:srgbClr val="FFFFFF"/>
                </a:solidFill>
                <a:latin typeface="맑은 고딕"/>
                <a:ea typeface="맑은 고딕"/>
              </a:rPr>
              <a:t>기업 AI를,</a:t>
            </a:r>
          </a:p>
          <a:p>
            <a:pPr algn="l">
              <a:lnSpc>
                <a:spcPct val="112000"/>
              </a:lnSpc>
            </a:pPr>
            <a:r>
              <a:rPr sz="4400" b="1" spc="-100">
                <a:solidFill>
                  <a:srgbClr val="FFFFFF"/>
                </a:solidFill>
                <a:latin typeface="맑은 고딕"/>
                <a:ea typeface="맑은 고딕"/>
              </a:rPr>
              <a:t>프로젝트가 아닌 </a:t>
            </a:r>
            <a:r>
              <a:rPr sz="4400" b="1" spc="-100">
                <a:solidFill>
                  <a:srgbClr val="4D82FF"/>
                </a:solidFill>
                <a:latin typeface="맑은 고딕"/>
                <a:ea typeface="맑은 고딕"/>
              </a:rPr>
              <a:t>플랫폼</a:t>
            </a:r>
            <a:r>
              <a:rPr sz="4400" b="1" spc="-100">
                <a:solidFill>
                  <a:srgbClr val="FFFFFF"/>
                </a:solidFill>
                <a:latin typeface="맑은 고딕"/>
                <a:ea typeface="맑은 고딕"/>
              </a:rPr>
              <a:t>으로.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94760"/>
            <a:ext cx="512064" cy="45720"/>
          </a:xfrm>
          <a:prstGeom prst="roundRect">
            <a:avLst>
              <a:gd name="adj" fmla="val 50000"/>
            </a:avLst>
          </a:prstGeom>
          <a:solidFill>
            <a:srgbClr val="004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맑은 고딕"/>
                <a:ea typeface="맑은 고딕"/>
              </a:rPr>
              <a:t>-52%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맑은 고딕"/>
                <a:ea typeface="맑은 고딕"/>
              </a:rPr>
              <a:t>신규 Agent 리드타임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맑은 고딕"/>
                <a:ea typeface="맑은 고딕"/>
              </a:rPr>
              <a:t>-38%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맑은 고딕"/>
                <a:ea typeface="맑은 고딕"/>
              </a:rPr>
              <a:t>중복 Agent · 운영비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420624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1" spc="-60">
                <a:solidFill>
                  <a:srgbClr val="FFFFFF"/>
                </a:solidFill>
                <a:latin typeface="맑은 고딕"/>
                <a:ea typeface="맑은 고딕"/>
              </a:rPr>
              <a:t>선순환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A6A6A6"/>
                </a:solidFill>
                <a:latin typeface="맑은 고딕"/>
                <a:ea typeface="맑은 고딕"/>
              </a:rPr>
              <a:t>운영할수록 좋아지는 품질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06440"/>
            <a:ext cx="12191695" cy="566928"/>
          </a:xfrm>
          <a:prstGeom prst="rect">
            <a:avLst/>
          </a:prstGeom>
          <a:solidFill>
            <a:srgbClr val="282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43600"/>
            <a:ext cx="11155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CCCCCC"/>
                </a:solidFill>
                <a:latin typeface="맑은 고딕"/>
                <a:ea typeface="맑은 고딕"/>
              </a:rPr>
              <a:t>감사합니다   |   라이브 데모(콘솔 + Swagger UI) 준비 완료   |   ※ 효과 수치는 수행 경험 기반 추정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