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80744"/>
            <a:ext cx="2788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ITCEN 신사업 공모전 · 아이디어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152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800" b="1" spc="-110">
                <a:solidFill>
                  <a:srgbClr val="FFFFFF"/>
                </a:solidFill>
                <a:latin typeface="맑은 고딕"/>
                <a:ea typeface="맑은 고딕"/>
              </a:rPr>
              <a:t>One Console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0" spc="-40">
                <a:solidFill>
                  <a:srgbClr val="CCCCCC"/>
                </a:solidFill>
                <a:latin typeface="맑은 고딕"/>
                <a:ea typeface="맑은 고딕"/>
              </a:rPr>
              <a:t>AI Agent 통합 형상관리 플랫폼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566928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기업 AI를, 프로젝트가 아닌 플랫폼으로.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86868B"/>
                </a:solidFill>
                <a:latin typeface="맑은 고딕"/>
                <a:ea typeface="맑은 고딕"/>
              </a:rPr>
              <a:t>현장에서 반복된 문제로 시작해, 검증된 해결책을 거쳐, 사업이 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2026. 07   ·   제안팀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네 가지 심사 기준에, 네 줄로 답합니다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38928" cy="2103120"/>
          </a:xfrm>
          <a:prstGeom prst="roundRect">
            <a:avLst>
              <a:gd name="adj" fmla="val 815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1143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100">
                <a:solidFill>
                  <a:srgbClr val="0066CC"/>
                </a:solidFill>
                <a:latin typeface="맑은 고딕"/>
                <a:ea typeface="맑은 고딕"/>
              </a:rPr>
              <a:t>35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02536"/>
            <a:ext cx="335584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문제 발굴 · Industry Insight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50" b="1">
                <a:solidFill>
                  <a:srgbClr val="1D1D1F"/>
                </a:solidFill>
                <a:latin typeface="맑은 고딕"/>
                <a:ea typeface="맑은 고딕"/>
              </a:rPr>
              <a:t>프로젝트마다 처음부터 다시 만드는 기업 AI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대기업 현장에서 반복 확인한 구조적 비효율 — 지식·형상·로그가 전부 흩어져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91640"/>
            <a:ext cx="5138928" cy="2103120"/>
          </a:xfrm>
          <a:prstGeom prst="roundRect">
            <a:avLst>
              <a:gd name="adj" fmla="val 815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965960"/>
            <a:ext cx="1143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100">
                <a:solidFill>
                  <a:srgbClr val="0066CC"/>
                </a:solidFill>
                <a:latin typeface="맑은 고딕"/>
                <a:ea typeface="맑은 고딕"/>
              </a:rPr>
              <a:t>30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002536"/>
            <a:ext cx="335584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솔루션 유효성 · 차별성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50" b="1">
                <a:solidFill>
                  <a:srgbClr val="1D1D1F"/>
                </a:solidFill>
                <a:latin typeface="맑은 고딕"/>
                <a:ea typeface="맑은 고딕"/>
              </a:rPr>
              <a:t>하나의 콘솔로 지식 · 형상 · 운영을 통합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아이디어가 아니라 이미 동작하는 MVP — 콘솔 + REST API + 개선 루프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5138928" cy="2103120"/>
          </a:xfrm>
          <a:prstGeom prst="roundRect">
            <a:avLst>
              <a:gd name="adj" fmla="val 815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43400"/>
            <a:ext cx="1143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100">
                <a:solidFill>
                  <a:srgbClr val="0066CC"/>
                </a:solidFill>
                <a:latin typeface="맑은 고딕"/>
                <a:ea typeface="맑은 고딕"/>
              </a:rPr>
              <a:t>20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379976"/>
            <a:ext cx="335584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사업화 가능성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50" b="1">
                <a:solidFill>
                  <a:srgbClr val="1D1D1F"/>
                </a:solidFill>
                <a:latin typeface="맑은 고딕"/>
                <a:ea typeface="맑은 고딕"/>
              </a:rPr>
              <a:t>구축 → 구독 → 운영으로 쌓이는 반복 매출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아이티센 그룹 고객망이 곧 판로 — SI 본업과 같은 딜리버리 구조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4069080"/>
            <a:ext cx="5138928" cy="2103120"/>
          </a:xfrm>
          <a:prstGeom prst="roundRect">
            <a:avLst>
              <a:gd name="adj" fmla="val 815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4343400"/>
            <a:ext cx="1143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100">
                <a:solidFill>
                  <a:srgbClr val="0066CC"/>
                </a:solidFill>
                <a:latin typeface="맑은 고딕"/>
                <a:ea typeface="맑은 고딕"/>
              </a:rPr>
              <a:t>15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4379976"/>
            <a:ext cx="335584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실행력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50" b="1">
                <a:solidFill>
                  <a:srgbClr val="1D1D1F"/>
                </a:solidFill>
                <a:latin typeface="맑은 고딕"/>
                <a:ea typeface="맑은 고딕"/>
              </a:rPr>
              <a:t>선정 다음 날부터 파일럿 준비 가능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발표장에서 슬라이드가 아닌 실제 제품으로 라이브 데모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문제 발굴 35 · 현장의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글로벌 제조 대기업 프로젝트에서, 반복해서 마주친 장면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spc="0">
                <a:solidFill>
                  <a:srgbClr val="0066CC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45775" cy="6559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300" b="1" spc="-70">
                <a:solidFill>
                  <a:srgbClr val="1D1D1F"/>
                </a:solidFill>
                <a:latin typeface="맑은 고딕"/>
                <a:ea typeface="맑은 고딕"/>
              </a:rPr>
              <a:t>N번째 프로젝트에서, 같은 것을 또 만들고 있었다.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>
                <a:solidFill>
                  <a:srgbClr val="7A7A7A"/>
                </a:solidFill>
                <a:latin typeface="맑은 고딕"/>
                <a:ea typeface="맑은 고딕"/>
              </a:rPr>
              <a:t>기술이 부족해서가 아니다 — 만든 것이 자산으로 남지 않는 구조가 문제였다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86200"/>
            <a:ext cx="3383280" cy="1965960"/>
          </a:xfrm>
          <a:prstGeom prst="roundRect">
            <a:avLst>
              <a:gd name="adj" fmla="val 872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100" b="1">
                <a:solidFill>
                  <a:srgbClr val="7A7A7A"/>
                </a:solidFill>
                <a:latin typeface="맑은 고딕"/>
                <a:ea typeface="맑은 고딕"/>
              </a:rPr>
              <a:t>✕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전처리 파이프라인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프로젝트마다 재개발 —
노하우가 코드와 함께 소멸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3886200"/>
            <a:ext cx="3383280" cy="1965960"/>
          </a:xfrm>
          <a:prstGeom prst="roundRect">
            <a:avLst>
              <a:gd name="adj" fmla="val 872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416052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100" b="1">
                <a:solidFill>
                  <a:srgbClr val="7A7A7A"/>
                </a:solidFill>
                <a:latin typeface="맑은 고딕"/>
                <a:ea typeface="맑은 고딕"/>
              </a:rPr>
              <a:t>✕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프롬프트 · 검색 설정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위키·메모·머릿속에 산재 —
담당자가 곧 단일 장애점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3886200"/>
            <a:ext cx="3383280" cy="1965960"/>
          </a:xfrm>
          <a:prstGeom prst="roundRect">
            <a:avLst>
              <a:gd name="adj" fmla="val 872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416052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100" b="1">
                <a:solidFill>
                  <a:srgbClr val="7A7A7A"/>
                </a:solidFill>
                <a:latin typeface="맑은 고딕"/>
                <a:ea typeface="맑은 고딕"/>
              </a:rPr>
              <a:t>✕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운영 로그 · 피드백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수집되지 않거나, 수집돼도
개선으로 연결되지 않음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문제 발굴 35 · 문제의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다섯 가지가, 다섯 곳에서, 따로 관리된다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1965960" cy="603504"/>
          </a:xfrm>
          <a:prstGeom prst="roundRect">
            <a:avLst>
              <a:gd name="adj" fmla="val 2840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1965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333333"/>
                </a:solidFill>
                <a:latin typeface="맑은 고딕"/>
                <a:ea typeface="맑은 고딕"/>
              </a:rPr>
              <a:t>도메인 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1691640"/>
            <a:ext cx="1965960" cy="603504"/>
          </a:xfrm>
          <a:prstGeom prst="roundRect">
            <a:avLst>
              <a:gd name="adj" fmla="val 2840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1709928"/>
            <a:ext cx="1965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333333"/>
                </a:solidFill>
                <a:latin typeface="맑은 고딕"/>
                <a:ea typeface="맑은 고딕"/>
              </a:rPr>
              <a:t>사내 지식 (RAG)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1691640"/>
            <a:ext cx="1965960" cy="603504"/>
          </a:xfrm>
          <a:prstGeom prst="roundRect">
            <a:avLst>
              <a:gd name="adj" fmla="val 2840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1709928"/>
            <a:ext cx="1965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333333"/>
                </a:solidFill>
                <a:latin typeface="맑은 고딕"/>
                <a:ea typeface="맑은 고딕"/>
              </a:rPr>
              <a:t>System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1691640"/>
            <a:ext cx="1965960" cy="603504"/>
          </a:xfrm>
          <a:prstGeom prst="roundRect">
            <a:avLst>
              <a:gd name="adj" fmla="val 2840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1709928"/>
            <a:ext cx="1965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333333"/>
                </a:solidFill>
                <a:latin typeface="맑은 고딕"/>
                <a:ea typeface="맑은 고딕"/>
              </a:rPr>
              <a:t>검색 설정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4" y="1691640"/>
            <a:ext cx="1965960" cy="603504"/>
          </a:xfrm>
          <a:prstGeom prst="roundRect">
            <a:avLst>
              <a:gd name="adj" fmla="val 2840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4" y="1709928"/>
            <a:ext cx="1965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333333"/>
                </a:solidFill>
                <a:latin typeface="맑은 고딕"/>
                <a:ea typeface="맑은 고딕"/>
              </a:rPr>
              <a:t>운영 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450592"/>
            <a:ext cx="10545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86868B"/>
                </a:solidFill>
                <a:latin typeface="맑은 고딕"/>
                <a:ea typeface="맑은 고딕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spc="-90">
                <a:solidFill>
                  <a:srgbClr val="1D1D1F"/>
                </a:solidFill>
                <a:latin typeface="맑은 고딕"/>
                <a:ea typeface="맑은 고딕"/>
              </a:rPr>
              <a:t>8주+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신규 Agent 구축 리드타임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전처리·프롬프트·검색을 매번 처음부터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spc="-90">
                <a:solidFill>
                  <a:srgbClr val="1D1D1F"/>
                </a:solidFill>
                <a:latin typeface="맑은 고딕"/>
                <a:ea typeface="맑은 고딕"/>
              </a:rPr>
              <a:t>30~40%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유사 기능 Agent 중복 개발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부서별로 같은 봇을 각자 구축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1752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spc="-90">
                <a:solidFill>
                  <a:srgbClr val="1D1D1F"/>
                </a:solidFill>
                <a:latin typeface="맑은 고딕"/>
                <a:ea typeface="맑은 고딕"/>
              </a:rPr>
              <a:t>0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운영 → 개선 사이클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로그·피드백이 개선으로 연결되지 않음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92040"/>
            <a:ext cx="10545775" cy="1051560"/>
          </a:xfrm>
          <a:prstGeom prst="round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07492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AI가 ‘운영되는 서비스’가 아니라 ‘끝나는 프로젝트’가 된다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CCCCCC"/>
                </a:solidFill>
                <a:latin typeface="맑은 고딕"/>
                <a:ea typeface="맑은 고딕"/>
              </a:rPr>
              <a:t>만들 때마다 비용은 다시 들고, 품질은 담당자에 좌우되며, 시간이 지나도 나아지지 않는다.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0533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※ 수치는 당사 프로젝트 수행 경험 기반 추정치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문제 발굴 35 · INDUSTRY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병목은 ‘개발’에서 ‘운영’으로 이동했다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2004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PoC → 운영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7A7A7A"/>
                </a:solidFill>
                <a:latin typeface="맑은 고딕"/>
                <a:ea typeface="맑은 고딕"/>
              </a:rPr>
              <a:t>시장의 질문이 바뀌었다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‘만들 수 있는가’에서 ‘계속 잘 돌아가는가’로.
운영 단계에서 좌초하는 프로젝트가 다수.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783080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2011680"/>
            <a:ext cx="32004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1 → N개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7A7A7A"/>
                </a:solidFill>
                <a:latin typeface="맑은 고딕"/>
                <a:ea typeface="맑은 고딕"/>
              </a:rPr>
              <a:t>기업당 Agent 폭증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부서·업무별 특화 봇으로 수십 개 보유 시대.
개별 관리는 10개를 넘는 순간 통제 불능.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783080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2011680"/>
            <a:ext cx="32004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AgentOps 공백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7A7A7A"/>
                </a:solidFill>
                <a:latin typeface="맑은 고딕"/>
                <a:ea typeface="맑은 고딕"/>
              </a:rPr>
              <a:t>표준이 없다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DevOps·MLOps는 성숙, Agent 형상관리는 공백.
한국어 문서 · On-prem 수요는 더 비어 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92040"/>
            <a:ext cx="10545775" cy="10515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138928"/>
            <a:ext cx="96313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066CC"/>
                </a:solidFill>
                <a:latin typeface="맑은 고딕"/>
                <a:ea typeface="맑은 고딕"/>
              </a:rPr>
              <a:t>Insight  —  </a:t>
            </a:r>
            <a:r>
              <a:rPr sz="1400" b="1">
                <a:solidFill>
                  <a:srgbClr val="1D1D1F"/>
                </a:solidFill>
                <a:latin typeface="맑은 고딕"/>
                <a:ea typeface="맑은 고딕"/>
              </a:rPr>
              <a:t>기업 AI의 경쟁력은 이제 ‘모델’이 아니라, 지식 → Agent → 운영 → 개선을 돌리는 </a:t>
            </a:r>
            <a:r>
              <a:rPr sz="1400" b="1">
                <a:solidFill>
                  <a:srgbClr val="0066CC"/>
                </a:solidFill>
                <a:latin typeface="맑은 고딕"/>
                <a:ea typeface="맑은 고딕"/>
              </a:rPr>
              <a:t>체계</a:t>
            </a:r>
            <a:r>
              <a:rPr sz="1400" b="1">
                <a:solidFill>
                  <a:srgbClr val="1D1D1F"/>
                </a:solidFill>
                <a:latin typeface="맑은 고딕"/>
                <a:ea typeface="맑은 고딕"/>
              </a:rPr>
              <a:t>에서 나온다.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문제 발굴 35 · 고객 PAIN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세 개의 자리, 하나의 고통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83280" cy="329184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05740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66544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AI 개발팀장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spc="-30">
                <a:solidFill>
                  <a:srgbClr val="1D1D1F"/>
                </a:solidFill>
                <a:latin typeface="맑은 고딕"/>
                <a:ea typeface="맑은 고딕"/>
              </a:rPr>
              <a:t>“봇 하나 추가하는데
왜 두 달이 걸리죠?”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251960"/>
            <a:ext cx="365760" cy="32004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전처리·프롬프트 재작업 → 리드타임 폭증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83080"/>
            <a:ext cx="3383280" cy="329184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2584" y="205740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2066544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서비스 운영 담당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69748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spc="-30">
                <a:solidFill>
                  <a:srgbClr val="1D1D1F"/>
                </a:solidFill>
                <a:latin typeface="맑은 고딕"/>
                <a:ea typeface="맑은 고딕"/>
              </a:rPr>
              <a:t>“답변이 틀렸다는데,
뭘 고쳐야 할지 모르겠어요.”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4" y="4251960"/>
            <a:ext cx="365760" cy="32004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44348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로그가 흩어져 원인 추적 불가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1783080"/>
            <a:ext cx="3383280" cy="329184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7888" y="205740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066544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정보보호 · 경영진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69748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spc="-30">
                <a:solidFill>
                  <a:srgbClr val="1D1D1F"/>
                </a:solidFill>
                <a:latin typeface="맑은 고딕"/>
                <a:ea typeface="맑은 고딕"/>
              </a:rPr>
              <a:t>“부서마다 AI를 따로 만드는데,
통제가 됩니까?”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4251960"/>
            <a:ext cx="365760" cy="32004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4348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중복 투자 · 변경 이력 부재 · 보안 리스크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10545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7A7A7A"/>
                </a:solidFill>
                <a:latin typeface="맑은 고딕"/>
                <a:ea typeface="맑은 고딕"/>
              </a:rPr>
              <a:t>공통분모는 하나 — </a:t>
            </a:r>
            <a:r>
              <a:rPr sz="1400" b="1">
                <a:solidFill>
                  <a:srgbClr val="0066CC"/>
                </a:solidFill>
                <a:latin typeface="맑은 고딕"/>
                <a:ea typeface="맑은 고딕"/>
              </a:rPr>
              <a:t>“AI를 담을 운영 체계가 없다”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One Console AI — 하나의 콘솔, 하나의 선순환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2487168" cy="1828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011680"/>
            <a:ext cx="202996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①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600" b="1">
                <a:solidFill>
                  <a:srgbClr val="1D1D1F"/>
                </a:solidFill>
                <a:latin typeface="맑은 고딕"/>
                <a:ea typeface="맑은 고딕"/>
              </a:rPr>
              <a:t>Knowledge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흩어진 문서를
RAG 파이프라인으로 정제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5264" y="2487168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86868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783080"/>
            <a:ext cx="2487168" cy="1828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2011680"/>
            <a:ext cx="202996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②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600" b="1">
                <a:solidFill>
                  <a:srgbClr val="1D1D1F"/>
                </a:solidFill>
                <a:latin typeface="맑은 고딕"/>
                <a:ea typeface="맑은 고딕"/>
              </a:rPr>
              <a:t>Agent Config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bot_type 키로 프롬프트·
검색 범위를 형상관리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2744" y="2487168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86868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2487168" cy="1828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011680"/>
            <a:ext cx="202996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③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600" b="1">
                <a:solidFill>
                  <a:srgbClr val="1D1D1F"/>
                </a:solidFill>
                <a:latin typeface="맑은 고딕"/>
                <a:ea typeface="맑은 고딕"/>
              </a:rPr>
              <a:t>AI Agent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REST API로 형상을 호출,
서비스로 수렴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2487168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86868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783080"/>
            <a:ext cx="2487168" cy="1828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2011680"/>
            <a:ext cx="202996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④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600" b="1">
                <a:solidFill>
                  <a:srgbClr val="1D1D1F"/>
                </a:solidFill>
                <a:latin typeface="맑은 고딕"/>
                <a:ea typeface="맑은 고딕"/>
              </a:rPr>
              <a:t>운영 · 개선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로그·피드백이 콘솔로
되돌아와 다음 개선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789920" y="3886200"/>
            <a:ext cx="0" cy="274320"/>
          </a:xfrm>
          <a:prstGeom prst="line">
            <a:avLst/>
          </a:prstGeom>
          <a:ln w="15240">
            <a:solidFill>
              <a:srgbClr val="8686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45920" y="4160520"/>
            <a:ext cx="9144000" cy="0"/>
          </a:xfrm>
          <a:prstGeom prst="line">
            <a:avLst/>
          </a:prstGeom>
          <a:ln w="15240">
            <a:solidFill>
              <a:srgbClr val="8686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45920" y="3886200"/>
            <a:ext cx="0" cy="274320"/>
          </a:xfrm>
          <a:prstGeom prst="line">
            <a:avLst/>
          </a:prstGeom>
          <a:ln w="15240">
            <a:solidFill>
              <a:srgbClr val="8686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224528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④ → ①  운영 신호가 지식과 형상으로 되돌아온다 — 운영할수록 좋아지는 폐쇄 루프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9204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01184"/>
            <a:ext cx="248716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D1D1F"/>
                </a:solidFill>
                <a:latin typeface="맑은 고딕"/>
                <a:ea typeface="맑은 고딕"/>
              </a:rPr>
              <a:t>✓  개발·운영 표준화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489204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4901184"/>
            <a:ext cx="248716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D1D1F"/>
                </a:solidFill>
                <a:latin typeface="맑은 고딕"/>
                <a:ea typeface="맑은 고딕"/>
              </a:rPr>
              <a:t>✓  사내 지식 극대화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9204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901184"/>
            <a:ext cx="248716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D1D1F"/>
                </a:solidFill>
                <a:latin typeface="맑은 고딕"/>
                <a:ea typeface="맑은 고딕"/>
              </a:rPr>
              <a:t>✓  중복 제거 · 비용 절감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489204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4901184"/>
            <a:ext cx="248716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D1D1F"/>
                </a:solidFill>
                <a:latin typeface="맑은 고딕"/>
                <a:ea typeface="맑은 고딕"/>
              </a:rPr>
              <a:t>✓  품질의 지속 상승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7A7A7A"/>
                </a:solidFill>
                <a:latin typeface="맑은 고딕"/>
                <a:ea typeface="맑은 고딕"/>
              </a:rPr>
              <a:t>프로젝트 단위가 아닌 플랫폼 기반 — 기업 AI 운영의 기본 챗시스(chassis)가 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핵심 기능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어떤 문서든, 같은 규칙으로 지식이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7" name="Pentagon 6"/>
          <p:cNvSpPr/>
          <p:nvPr/>
        </p:nvSpPr>
        <p:spPr>
          <a:xfrm>
            <a:off x="822960" y="1783080"/>
            <a:ext cx="1704289" cy="777240"/>
          </a:xfrm>
          <a:prstGeom prst="homePlat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수집</a:t>
            </a:r>
          </a:p>
        </p:txBody>
      </p:sp>
      <p:sp>
        <p:nvSpPr>
          <p:cNvPr id="8" name="Chevron 7"/>
          <p:cNvSpPr/>
          <p:nvPr/>
        </p:nvSpPr>
        <p:spPr>
          <a:xfrm>
            <a:off x="2591257" y="1783080"/>
            <a:ext cx="1704289" cy="777240"/>
          </a:xfrm>
          <a:prstGeom prst="chevron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추출</a:t>
            </a:r>
          </a:p>
        </p:txBody>
      </p:sp>
      <p:sp>
        <p:nvSpPr>
          <p:cNvPr id="9" name="Chevron 8"/>
          <p:cNvSpPr/>
          <p:nvPr/>
        </p:nvSpPr>
        <p:spPr>
          <a:xfrm>
            <a:off x="4359554" y="1783080"/>
            <a:ext cx="1704289" cy="777240"/>
          </a:xfrm>
          <a:prstGeom prst="chevron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전처리</a:t>
            </a:r>
          </a:p>
        </p:txBody>
      </p:sp>
      <p:sp>
        <p:nvSpPr>
          <p:cNvPr id="10" name="Chevron 9"/>
          <p:cNvSpPr/>
          <p:nvPr/>
        </p:nvSpPr>
        <p:spPr>
          <a:xfrm>
            <a:off x="6127851" y="1783080"/>
            <a:ext cx="1704289" cy="777240"/>
          </a:xfrm>
          <a:prstGeom prst="chevron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가공</a:t>
            </a:r>
          </a:p>
        </p:txBody>
      </p:sp>
      <p:sp>
        <p:nvSpPr>
          <p:cNvPr id="11" name="Chevron 10"/>
          <p:cNvSpPr/>
          <p:nvPr/>
        </p:nvSpPr>
        <p:spPr>
          <a:xfrm>
            <a:off x="7896148" y="1783080"/>
            <a:ext cx="1704289" cy="777240"/>
          </a:xfrm>
          <a:prstGeom prst="chevron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적재</a:t>
            </a:r>
          </a:p>
        </p:txBody>
      </p:sp>
      <p:sp>
        <p:nvSpPr>
          <p:cNvPr id="12" name="Chevron 11"/>
          <p:cNvSpPr/>
          <p:nvPr/>
        </p:nvSpPr>
        <p:spPr>
          <a:xfrm>
            <a:off x="9664445" y="1783080"/>
            <a:ext cx="1704289" cy="777240"/>
          </a:xfrm>
          <a:prstGeom prst="chevron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RAGaaS 동기화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Confluence · PDF · Excel · 이미지 — 소스 형태와 무관하게 동일한 파이프라인을 통과합니다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5074920" cy="2514600"/>
          </a:xfrm>
          <a:prstGeom prst="roundRect">
            <a:avLst>
              <a:gd name="adj" fmla="val 681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520440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1D1D1F"/>
                </a:solidFill>
                <a:latin typeface="맑은 고딕"/>
                <a:ea typeface="맑은 고딕"/>
              </a:rPr>
              <a:t>가공 단계 출력 규칙 — 전 파이프라인 강제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✓  모든 출력은 반드시 한국어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✓  서론 · 결론 · 인사말 금지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✓  추측성 표현 금지 (“~인 것 같습니다” 차단)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✓  사실 위주의 건조하고 명확한 문장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규칙 위반 출력은 적재 전 자동 반려 · 재생성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46120"/>
            <a:ext cx="5193792" cy="2514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spc="-70">
                <a:solidFill>
                  <a:srgbClr val="7A7A7A"/>
                </a:solidFill>
                <a:latin typeface="맑은 고딕"/>
                <a:ea typeface="맑은 고딕"/>
              </a:rPr>
              <a:t>8주+</a:t>
            </a:r>
            <a:r>
              <a:rPr sz="2200" b="0">
                <a:solidFill>
                  <a:srgbClr val="86868B"/>
                </a:solidFill>
                <a:latin typeface="맑은 고딕"/>
                <a:ea typeface="맑은 고딕"/>
              </a:rPr>
              <a:t>  →  </a:t>
            </a:r>
            <a:r>
              <a:rPr sz="3000" b="1" spc="-70">
                <a:solidFill>
                  <a:srgbClr val="0066CC"/>
                </a:solidFill>
                <a:latin typeface="맑은 고딕"/>
                <a:ea typeface="맑은 고딕"/>
              </a:rPr>
              <a:t>수일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신규 지식 구축 리드타임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0916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·  전처리 노하우가 코드가 아닌 플랫폼 기능으로 축적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·  최신성(Freshness) 추적 — 오래된 지식 자동 감지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·  Index 단위 지식 범위 통제 — 보안 경계 명확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핵심 기능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bot_type — 하나의 키가 모든 형상을 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108960" cy="2286000"/>
          </a:xfrm>
          <a:prstGeom prst="roundRect">
            <a:avLst>
              <a:gd name="adj" fmla="val 7500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2560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2997FF"/>
                </a:solidFill>
                <a:latin typeface="맑은 고딕"/>
                <a:ea typeface="맑은 고딕"/>
              </a:rPr>
              <a:t>고유 KEY</a:t>
            </a:r>
          </a:p>
          <a:p>
            <a:pPr algn="l">
              <a:lnSpc>
                <a:spcPct val="125000"/>
              </a:lnSpc>
            </a:pPr>
            <a:r>
              <a:rPr sz="3000" b="1" spc="-50">
                <a:solidFill>
                  <a:srgbClr val="FFFFFF"/>
                </a:solidFill>
                <a:latin typeface="맑은 고딕"/>
                <a:ea typeface="맑은 고딕"/>
              </a:rPr>
              <a:t>bot_type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CCCCCC"/>
                </a:solidFill>
                <a:latin typeface="맑은 고딕"/>
                <a:ea typeface="맑은 고딕"/>
              </a:rPr>
              <a:t>생성 시 정하는 이 키에 형상이 매달리고,
외부 호출도 이 키 하나로 식별됩니다.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931920" y="2340864"/>
            <a:ext cx="1097280" cy="905256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0" y="1938528"/>
            <a:ext cx="6400800" cy="804672"/>
          </a:xfrm>
          <a:prstGeom prst="roundRect">
            <a:avLst>
              <a:gd name="adj" fmla="val 21306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066544"/>
            <a:ext cx="5943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1D1F"/>
                </a:solidFill>
                <a:latin typeface="맑은 고딕"/>
                <a:ea typeface="맑은 고딕"/>
              </a:rPr>
              <a:t>① 에이전트 생성</a:t>
            </a: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    이름 · 도메인 · 담당자 등록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3246120"/>
            <a:ext cx="1097280" cy="27432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2871216"/>
            <a:ext cx="6400800" cy="804672"/>
          </a:xfrm>
          <a:prstGeom prst="roundRect">
            <a:avLst>
              <a:gd name="adj" fmla="val 21306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5943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1D1F"/>
                </a:solidFill>
                <a:latin typeface="맑은 고딕"/>
                <a:ea typeface="맑은 고딕"/>
              </a:rPr>
              <a:t>② System Prompt</a:t>
            </a: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    말투·역할 — 저장마다 새 버전, 원클릭 롤백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3246120"/>
            <a:ext cx="1097280" cy="960120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0" y="3803904"/>
            <a:ext cx="6400800" cy="804672"/>
          </a:xfrm>
          <a:prstGeom prst="roundRect">
            <a:avLst>
              <a:gd name="adj" fmla="val 21306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3931920"/>
            <a:ext cx="5943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1D1F"/>
                </a:solidFill>
                <a:latin typeface="맑은 고딕"/>
                <a:ea typeface="맑은 고딕"/>
              </a:rPr>
              <a:t>③ 벡터 검색 설정</a:t>
            </a: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    Index · Top-K · 유사도 · 출처 인용 강제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71600" y="5202936"/>
            <a:ext cx="6035040" cy="0"/>
          </a:xfrm>
          <a:prstGeom prst="line">
            <a:avLst/>
          </a:prstGeom>
          <a:ln w="1778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280160" y="50749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4406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v1.0</a:t>
            </a:r>
          </a:p>
        </p:txBody>
      </p:sp>
      <p:sp>
        <p:nvSpPr>
          <p:cNvPr id="21" name="Oval 20"/>
          <p:cNvSpPr/>
          <p:nvPr/>
        </p:nvSpPr>
        <p:spPr>
          <a:xfrm>
            <a:off x="4023360" y="50749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54406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v1.1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5074920"/>
            <a:ext cx="256032" cy="25603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4406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v1.2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56632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1">
                <a:solidFill>
                  <a:srgbClr val="1D1D1F"/>
                </a:solidFill>
                <a:latin typeface="맑은 고딕"/>
                <a:ea typeface="맑은 고딕"/>
              </a:rPr>
              <a:t>모든 변경이 버전으로 남고,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문제가 생기면 과거 버전으로 즉시 롤백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세 형상이 모두 채워져야 ‘운영’ 상태로 전환 — 미완성 봇의 서비스 투입을 구조적으로 차단합니다.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핵심 기능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운영 신호가, 콘솔로 되돌아온다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487168" cy="1691640"/>
          </a:xfrm>
          <a:prstGeom prst="roundRect">
            <a:avLst>
              <a:gd name="adj" fmla="val 10135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084831"/>
            <a:ext cx="20299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550" b="1">
                <a:solidFill>
                  <a:srgbClr val="1D1D1F"/>
                </a:solidFill>
                <a:latin typeface="맑은 고딕"/>
                <a:ea typeface="맑은 고딕"/>
              </a:rPr>
              <a:t>수집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답변 로그 전건 기록
피드백 · 사용량 API 회귀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5264" y="246888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86868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487168" cy="1691640"/>
          </a:xfrm>
          <a:prstGeom prst="roundRect">
            <a:avLst>
              <a:gd name="adj" fmla="val 10135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2084831"/>
            <a:ext cx="20299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550" b="1">
                <a:solidFill>
                  <a:srgbClr val="1D1D1F"/>
                </a:solidFill>
                <a:latin typeface="맑은 고딕"/>
                <a:ea typeface="맑은 고딕"/>
              </a:rPr>
              <a:t>판정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★2 이하 → 개선 큐
인용 실패 → 지식 공백 신호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2744" y="246888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86868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87168" cy="1691640"/>
          </a:xfrm>
          <a:prstGeom prst="roundRect">
            <a:avLst>
              <a:gd name="adj" fmla="val 10135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084831"/>
            <a:ext cx="20299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550" b="1">
                <a:solidFill>
                  <a:srgbClr val="1D1D1F"/>
                </a:solidFill>
                <a:latin typeface="맑은 고딕"/>
                <a:ea typeface="맑은 고딕"/>
              </a:rPr>
              <a:t>조치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Prompt 새 버전 배포
검색 설정 조정 · 재수집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246888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86868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828800"/>
            <a:ext cx="2487168" cy="169164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2084831"/>
            <a:ext cx="20299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550" b="1">
                <a:solidFill>
                  <a:srgbClr val="0066CC"/>
                </a:solidFill>
                <a:latin typeface="맑은 고딕"/>
                <a:ea typeface="맑은 고딕"/>
              </a:rPr>
              <a:t>형상 기록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개선 전후를 버전으로 비교
효과가 데이터로 증명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5074920" cy="1463040"/>
          </a:xfrm>
          <a:prstGeom prst="roundRect">
            <a:avLst>
              <a:gd name="adj" fmla="val 1171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224528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spc="-40">
                <a:solidFill>
                  <a:srgbClr val="1D1D1F"/>
                </a:solidFill>
                <a:latin typeface="맑은 고딕"/>
                <a:ea typeface="맑은 고딕"/>
              </a:rPr>
              <a:t>4시간+ </a:t>
            </a:r>
            <a:r>
              <a:rPr sz="1350" b="1">
                <a:solidFill>
                  <a:srgbClr val="1D1D1F"/>
                </a:solidFill>
                <a:latin typeface="맑은 고딕"/>
                <a:ea typeface="맑은 고딕"/>
              </a:rPr>
              <a:t>멈춘 작업 자동 판정 · 강제 종료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장시간 running 작업을 정리해 운영 안정성 확보 — 수동 개입 0건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77639"/>
            <a:ext cx="5193792" cy="1463040"/>
          </a:xfrm>
          <a:prstGeom prst="roundRect">
            <a:avLst>
              <a:gd name="adj" fmla="val 11718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24528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“운영할수록 좋아진다”가 데이터로 증명된다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CCCCCC"/>
                </a:solidFill>
                <a:latin typeface="맑은 고딕"/>
                <a:ea typeface="맑은 고딕"/>
              </a:rPr>
              <a:t>개선 전후 버전 비교 — 경쟁 입찰에서 가장 강력한 레퍼런스가 되는 지점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개발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등록한 형상을, REST로 그대로 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760720" cy="3383280"/>
          </a:xfrm>
          <a:prstGeom prst="roundRect">
            <a:avLst>
              <a:gd name="adj" fmla="val 5067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68B"/>
                </a:solidFill>
                <a:latin typeface="Consolas"/>
                <a:ea typeface="맑은 고딕"/>
              </a:rPr>
              <a:t># 형상 가져오기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997FF"/>
                </a:solidFill>
                <a:latin typeface="Consolas"/>
                <a:ea typeface="맑은 고딕"/>
              </a:rPr>
              <a:t>GET  /agent/prompt/{bot_type}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997FF"/>
                </a:solidFill>
                <a:latin typeface="Consolas"/>
                <a:ea typeface="맑은 고딕"/>
              </a:rPr>
              <a:t>GET  /agent/ragaas-config/{bot_type}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Consolas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68B"/>
                </a:solidFill>
                <a:latin typeface="Consolas"/>
                <a:ea typeface="맑은 고딕"/>
              </a:rPr>
              <a:t># 대화 호출 — 형상(Prompt+검색) 자동 적용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Consolas"/>
                <a:ea typeface="맑은 고딕"/>
              </a:rPr>
              <a:t>POST /agent/chat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CCCCCC"/>
                </a:solidFill>
                <a:latin typeface="Consolas"/>
                <a:ea typeface="맑은 고딕"/>
              </a:rPr>
              <a:t>     {"bot_type": "hr-assistant",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CCCCCC"/>
                </a:solidFill>
                <a:latin typeface="Consolas"/>
                <a:ea typeface="맑은 고딕"/>
              </a:rPr>
              <a:t>      "message": "육아휴직은 최대 얼마나?"}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Consolas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68B"/>
                </a:solidFill>
                <a:latin typeface="Consolas"/>
                <a:ea typeface="맑은 고딕"/>
              </a:rPr>
              <a:t># 피드백 회귀 — 운영 신호의 시작점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Consolas"/>
                <a:ea typeface="맑은 고딕"/>
              </a:rPr>
              <a:t>POST /agent/feedback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783080"/>
            <a:ext cx="4343400" cy="804672"/>
          </a:xfrm>
          <a:prstGeom prst="roundRect">
            <a:avLst>
              <a:gd name="adj" fmla="val 21306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74520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spc="-60">
                <a:solidFill>
                  <a:srgbClr val="0066CC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892808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D1D1F"/>
                </a:solidFill>
                <a:latin typeface="맑은 고딕"/>
                <a:ea typeface="맑은 고딕"/>
              </a:rPr>
              <a:t>REST 엔드포인트 + Swagger UI 문서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715768"/>
            <a:ext cx="4343400" cy="804672"/>
          </a:xfrm>
          <a:prstGeom prst="roundRect">
            <a:avLst>
              <a:gd name="adj" fmla="val 21306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807208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spc="-60">
                <a:solidFill>
                  <a:srgbClr val="0066CC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825496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D1D1F"/>
                </a:solidFill>
                <a:latin typeface="맑은 고딕"/>
                <a:ea typeface="맑은 고딕"/>
              </a:rPr>
              <a:t>형상 제공 API — prompt · ragaas-config · 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648456"/>
            <a:ext cx="4343400" cy="804672"/>
          </a:xfrm>
          <a:prstGeom prst="roundRect">
            <a:avLst>
              <a:gd name="adj" fmla="val 21306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739896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spc="-60">
                <a:solidFill>
                  <a:srgbClr val="0066CC"/>
                </a:solidFill>
                <a:latin typeface="맑은 고딕"/>
                <a:ea typeface="맑은 고딕"/>
              </a:rPr>
              <a:t>0초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758184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D1D1F"/>
                </a:solidFill>
                <a:latin typeface="맑은 고딕"/>
                <a:ea typeface="맑은 고딕"/>
              </a:rPr>
              <a:t>저장 = 배포 — 코드 수정 없이 형상만 교체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4709160"/>
            <a:ext cx="4343400" cy="457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4718304"/>
            <a:ext cx="4343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LIVE DEMO — 발표장에서 실제 제품으로 시연합니다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프롬프트 하드코딩 제거 · 근거 문서와 유사도 점수가 응답에 포함 · 출처 없으면 ‘정보 없음’ 반환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차별성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‘만드는 도구’가 아니라, ‘좋아지게 만드는 체계’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1054303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194560"/>
                <a:gridCol w="2194560"/>
                <a:gridCol w="2221992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개별 프로젝트 구축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해외 범용 SaaS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One Console AI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한국어 사내문서 파이프라인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프롬프트+검색 통합 형상관리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운영 → 개선 폐쇄 루프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On-prem 구축형 (공공·금융)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현장 운영으로 검증된 모델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669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D1D1F"/>
                </a:solidFill>
                <a:latin typeface="맑은 고딕"/>
                <a:ea typeface="맑은 고딕"/>
              </a:rPr>
              <a:t>그리고 결정적 차이 — 이 체계는 이미 현장에서 돌아가고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그룹 시너지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아이티센이라서, 되는 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138928" cy="1965960"/>
          </a:xfrm>
          <a:prstGeom prst="roundRect">
            <a:avLst>
              <a:gd name="adj" fmla="val 872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4988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50" b="1">
                <a:solidFill>
                  <a:srgbClr val="1D1D1F"/>
                </a:solidFill>
                <a:latin typeface="맑은 고딕"/>
                <a:ea typeface="맑은 고딕"/>
              </a:rPr>
              <a:t>SI 수행력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공공·금융·엔터프라이즈 구축 경험 →
구축형(On-prem) 딜리버리 즉시 소화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136392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45536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066CC"/>
                </a:solidFill>
                <a:latin typeface="맑은 고딕"/>
                <a:ea typeface="맑은 고딕"/>
              </a:rPr>
              <a:t>플랫폼 + 구축 패키지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138928" cy="1965960"/>
          </a:xfrm>
          <a:prstGeom prst="roundRect">
            <a:avLst>
              <a:gd name="adj" fmla="val 872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011680"/>
            <a:ext cx="44988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50" b="1">
                <a:solidFill>
                  <a:srgbClr val="1D1D1F"/>
                </a:solidFill>
                <a:latin typeface="맑은 고딕"/>
                <a:ea typeface="맑은 고딕"/>
              </a:rPr>
              <a:t>고객 기반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그룹 고객망 → 초기 파일럿과
레퍼런스를 만드는 가장 빠른 경로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6248" y="3136392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145536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066CC"/>
                </a:solidFill>
                <a:latin typeface="맑은 고딕"/>
                <a:ea typeface="맑은 고딕"/>
              </a:rPr>
              <a:t>기존 계약에 Add-on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59352"/>
            <a:ext cx="5138928" cy="1965960"/>
          </a:xfrm>
          <a:prstGeom prst="roundRect">
            <a:avLst>
              <a:gd name="adj" fmla="val 872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33672"/>
            <a:ext cx="44988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50" b="1">
                <a:solidFill>
                  <a:srgbClr val="1D1D1F"/>
                </a:solidFill>
                <a:latin typeface="맑은 고딕"/>
                <a:ea typeface="맑은 고딕"/>
              </a:rPr>
              <a:t>클라우드 · MSP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그룹 클라우드 역량과 결합 →
매니지드 운영 매출 창출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358384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367528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066CC"/>
                </a:solidFill>
                <a:latin typeface="맑은 고딕"/>
                <a:ea typeface="맑은 고딕"/>
              </a:rPr>
              <a:t>구독 + 운영 반복 매출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959352"/>
            <a:ext cx="5138928" cy="1965960"/>
          </a:xfrm>
          <a:prstGeom prst="roundRect">
            <a:avLst>
              <a:gd name="adj" fmla="val 872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4233672"/>
            <a:ext cx="44988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50" b="1">
                <a:solidFill>
                  <a:srgbClr val="1D1D1F"/>
                </a:solidFill>
                <a:latin typeface="맑은 고딕"/>
                <a:ea typeface="맑은 고딕"/>
              </a:rPr>
              <a:t>AI 사업 표준화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그룹 내 AI 프로젝트의 공통 기반 →
수행 원가 절감 · 품질 상향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6248" y="5358384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5367528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066CC"/>
                </a:solidFill>
                <a:latin typeface="맑은 고딕"/>
                <a:ea typeface="맑은 고딕"/>
              </a:rPr>
              <a:t>내부 효율 + 외부 판매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남의 기술을 파는 사업이 아니라 — 우리가 매일 하는 일(SI·운영)을 반복 매출 구조로 바꾸는 사업입니다.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사업화 20 · 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커지는 판, 비어 있는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1188721" y="2103120"/>
            <a:ext cx="3749038" cy="3749038"/>
          </a:xfrm>
          <a:prstGeom prst="ellipse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01368" y="2715767"/>
            <a:ext cx="2523744" cy="2523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77440" y="3291839"/>
            <a:ext cx="1371600" cy="137160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221991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333333"/>
                </a:solidFill>
                <a:latin typeface="맑은 고딕"/>
                <a:ea typeface="맑은 고딕"/>
              </a:rPr>
              <a:t>TAM  ~3조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52927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</a:rPr>
              <a:t>SAM  ~3,000억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685031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SOM</a:t>
            </a:r>
          </a:p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~50억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TAM 국내 기업용 생성형 AI(2027E) · SAM LLMOps/AgentOps · SOM 3년 목표(20~30사) ※ 추정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020824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167128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왜 지금인가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PoC 예산이 운영 예산으로 전환되는 변곡점 — 운영 플랫폼 구매가 시작되는 시기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255264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401568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왜 비어 있나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해외 SaaS는 한국어 파이프라인 · On-prem · 공공 보안 요건에 구조적으로 취약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489704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636008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왜 우리인가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구축을 소화할 SI 역량 + 레퍼런스를 만들 고객망을 동시에 가진 사업자는 드물다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사업화 20 · 수익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구축으로 열고, 구독·운영으로 쌓는다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83280" cy="2651760"/>
          </a:xfrm>
          <a:prstGeom prst="roundRect">
            <a:avLst>
              <a:gd name="adj" fmla="val 646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057400"/>
            <a:ext cx="27980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300" b="1">
                <a:solidFill>
                  <a:srgbClr val="7A7A7A"/>
                </a:solidFill>
                <a:latin typeface="맑은 고딕"/>
                <a:ea typeface="맑은 고딕"/>
              </a:rPr>
              <a:t>① 구축 (SI)</a:t>
            </a:r>
          </a:p>
          <a:p>
            <a:pPr algn="l">
              <a:lnSpc>
                <a:spcPct val="128000"/>
              </a:lnSpc>
            </a:pPr>
            <a:r>
              <a:rPr sz="2400" b="1" spc="-60">
                <a:solidFill>
                  <a:srgbClr val="0066CC"/>
                </a:solidFill>
                <a:latin typeface="맑은 고딕"/>
                <a:ea typeface="맑은 고딕"/>
              </a:rPr>
              <a:t>1~3억 / 건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설치 + 지식 파이프라인 초기 구축
아이티센 본업과 동일한 딜리버리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783080"/>
            <a:ext cx="3383280" cy="2651760"/>
          </a:xfrm>
          <a:prstGeom prst="roundRect">
            <a:avLst>
              <a:gd name="adj" fmla="val 646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057400"/>
            <a:ext cx="27980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300" b="1">
                <a:solidFill>
                  <a:srgbClr val="7A7A7A"/>
                </a:solidFill>
                <a:latin typeface="맑은 고딕"/>
                <a:ea typeface="맑은 고딕"/>
              </a:rPr>
              <a:t>② 구독 (라이선스)</a:t>
            </a:r>
          </a:p>
          <a:p>
            <a:pPr algn="l">
              <a:lnSpc>
                <a:spcPct val="128000"/>
              </a:lnSpc>
            </a:pPr>
            <a:r>
              <a:rPr sz="2400" b="1" spc="-60">
                <a:solidFill>
                  <a:srgbClr val="0066CC"/>
                </a:solidFill>
                <a:latin typeface="맑은 고딕"/>
                <a:ea typeface="맑은 고딕"/>
              </a:rPr>
              <a:t>월 300~1,000만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Agent 수·사용량 기반 티어
콘솔 + API + 업데이트 — 핵심 반복 매출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783080"/>
            <a:ext cx="3383280" cy="2651760"/>
          </a:xfrm>
          <a:prstGeom prst="roundRect">
            <a:avLst>
              <a:gd name="adj" fmla="val 646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2057400"/>
            <a:ext cx="27980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300" b="1">
                <a:solidFill>
                  <a:srgbClr val="7A7A7A"/>
                </a:solidFill>
                <a:latin typeface="맑은 고딕"/>
                <a:ea typeface="맑은 고딕"/>
              </a:rPr>
              <a:t>③ 운영 (MSP)</a:t>
            </a:r>
          </a:p>
          <a:p>
            <a:pPr algn="l">
              <a:lnSpc>
                <a:spcPct val="128000"/>
              </a:lnSpc>
            </a:pPr>
            <a:r>
              <a:rPr sz="2400" b="1" spc="-60">
                <a:solidFill>
                  <a:srgbClr val="0066CC"/>
                </a:solidFill>
                <a:latin typeface="맑은 고딕"/>
                <a:ea typeface="맑은 고딕"/>
              </a:rPr>
              <a:t>월 500만~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모니터링 · 개선 리포트 · 튜닝 대행
그룹 클라우드 MSP와 결합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54880"/>
            <a:ext cx="10545775" cy="1005840"/>
          </a:xfrm>
          <a:prstGeom prst="round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937760"/>
            <a:ext cx="96313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지식과 형상이 쌓일수록, 떠나기 어려워진다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CCCCCC"/>
                </a:solidFill>
                <a:latin typeface="맑은 고딕"/>
                <a:ea typeface="맑은 고딕"/>
              </a:rPr>
              <a:t>고객이 플랫폼에 축적한 자산이 곧 전환 비용 — 1회성 SI가 3~5년 락인되는 구독·운영 매출로 바뀝니다.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2531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※ 가격은 예시 — 파일럿에서 지불의사 검증 후 확정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사업화 20 ·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완벽한 계획보다, 실행 가능한 첫걸음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2880360"/>
            <a:ext cx="9784080" cy="0"/>
          </a:xfrm>
          <a:prstGeom prst="line">
            <a:avLst/>
          </a:prstGeom>
          <a:ln w="203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60704" y="2752344"/>
            <a:ext cx="256032" cy="25603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192024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현재</a:t>
            </a:r>
          </a:p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</a:rPr>
              <a:t>MVP 검증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37160" y="320040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· 콘솔+API+파이프라인 구현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· 현장에서 운영 모델 확인</a:t>
            </a:r>
          </a:p>
        </p:txBody>
      </p:sp>
      <p:sp>
        <p:nvSpPr>
          <p:cNvPr id="11" name="Oval 10"/>
          <p:cNvSpPr/>
          <p:nvPr/>
        </p:nvSpPr>
        <p:spPr>
          <a:xfrm>
            <a:off x="4315968" y="275234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92024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~ 6개월</a:t>
            </a:r>
          </a:p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</a:rPr>
              <a:t>유상 파일럿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320040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· 그룹 고객 1~2사 PoC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· 지불의사 · 가격 검증</a:t>
            </a:r>
          </a:p>
        </p:txBody>
      </p:sp>
      <p:sp>
        <p:nvSpPr>
          <p:cNvPr id="14" name="Oval 13"/>
          <p:cNvSpPr/>
          <p:nvPr/>
        </p:nvSpPr>
        <p:spPr>
          <a:xfrm>
            <a:off x="7571232" y="275234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92024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~ 18개월</a:t>
            </a:r>
          </a:p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</a:rPr>
              <a:t>제품화 v1.0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20040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· 멀티테넌트 · 설치형 패키징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· 공공·금융 레퍼런스 2~3건</a:t>
            </a:r>
          </a:p>
        </p:txBody>
      </p:sp>
      <p:sp>
        <p:nvSpPr>
          <p:cNvPr id="17" name="Oval 16"/>
          <p:cNvSpPr/>
          <p:nvPr/>
        </p:nvSpPr>
        <p:spPr>
          <a:xfrm>
            <a:off x="10826496" y="275234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92024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18개월 ~</a:t>
            </a:r>
          </a:p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</a:rPr>
              <a:t>산업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320040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· 산업별 템플릿 · 파트너 채널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· MSP 운영 매출 본격화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29200"/>
            <a:ext cx="10545775" cy="9144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230368"/>
            <a:ext cx="963137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066CC"/>
                </a:solidFill>
                <a:latin typeface="맑은 고딕"/>
                <a:ea typeface="맑은 고딕"/>
              </a:rPr>
              <a:t>첫걸음은 이미 뗐습니다 — </a:t>
            </a:r>
            <a:r>
              <a:rPr sz="1350" b="1">
                <a:solidFill>
                  <a:srgbClr val="1D1D1F"/>
                </a:solidFill>
                <a:latin typeface="맑은 고딕"/>
                <a:ea typeface="맑은 고딕"/>
              </a:rPr>
              <a:t>필요한 것은 파일럿 고객 1개사와 소규모 TF. 6개월 내 유상 레퍼런스로 증명하겠습니다.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실행력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576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spc="-70">
                <a:solidFill>
                  <a:srgbClr val="1D1D1F"/>
                </a:solidFill>
                <a:latin typeface="맑은 고딕"/>
                <a:ea typeface="맑은 고딕"/>
              </a:rPr>
              <a:t>아이디어가 아니라, 제품으로 왔습니다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074920" cy="3794760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44348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</a:rPr>
              <a:t>이미 만들어 둔 것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관리 콘솔 8개 화면 — 지식·형상·운영·개선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ITCEN-API 19개 REST 엔드포인트 + Swagger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RAG 파이프라인 (추출→전처리→가공→적재)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bot_type 형상관리 — 버전 · 롤백 · 즉시 배포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운영 루프 — 피드백 회귀 · 멈춘 작업(4h+) 정리</a:t>
            </a:r>
          </a:p>
          <a:p>
            <a:pPr algn="l">
              <a:lnSpc>
                <a:spcPct val="125000"/>
              </a:lnSpc>
            </a:pPr>
            <a:r>
              <a:rPr sz="1150" b="1">
                <a:solidFill>
                  <a:srgbClr val="0066CC"/>
                </a:solidFill>
                <a:latin typeface="맑은 고딕"/>
                <a:ea typeface="맑은 고딕"/>
              </a:rPr>
              <a:t>→ 발표장에서 라이브 데모로 확인시켜 드립니다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193792" cy="3794760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4805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</a:rPr>
              <a:t>다음 단계를 위해 필요한 것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·  TF 4~6인 (기획 1 · 개발 3 · AI 1) — 6개월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·  파일럿 고객 1~2사 연결 (그룹 영업망 협조)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·  엔터프라이즈 보안 요건 보강 예산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6개월 목표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·  유상 파일럿 1건 계약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</a:rPr>
              <a:t>·  운영 데이터로 개선 효과 정량 입증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본 제안서의 모든 화면과 API는 제안팀이 직접 구현했습니다 — 선정 즉시, 다음 날부터 시작합니다.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spc="-110">
                <a:solidFill>
                  <a:srgbClr val="FFFFFF"/>
                </a:solidFill>
                <a:latin typeface="맑은 고딕"/>
                <a:ea typeface="맑은 고딕"/>
              </a:rPr>
              <a:t>기업 AI를,</a:t>
            </a:r>
          </a:p>
          <a:p>
            <a:pPr algn="l">
              <a:lnSpc>
                <a:spcPct val="112000"/>
              </a:lnSpc>
            </a:pPr>
            <a:r>
              <a:rPr sz="4600" b="1" spc="-110">
                <a:solidFill>
                  <a:srgbClr val="FFFFFF"/>
                </a:solidFill>
                <a:latin typeface="맑은 고딕"/>
                <a:ea typeface="맑은 고딕"/>
              </a:rPr>
              <a:t>프로젝트가 아닌 </a:t>
            </a:r>
            <a:r>
              <a:rPr sz="4600" b="1" spc="-110">
                <a:solidFill>
                  <a:srgbClr val="2997FF"/>
                </a:solidFill>
                <a:latin typeface="맑은 고딕"/>
                <a:ea typeface="맑은 고딕"/>
              </a:rPr>
              <a:t>플랫폼</a:t>
            </a:r>
            <a:r>
              <a:rPr sz="4600" b="1" spc="-110">
                <a:solidFill>
                  <a:srgbClr val="FFFFFF"/>
                </a:solidFill>
                <a:latin typeface="맑은 고딕"/>
                <a:ea typeface="맑은 고딕"/>
              </a:rPr>
              <a:t>으로.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9536" y="3657600"/>
            <a:ext cx="566928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spc="-70">
                <a:solidFill>
                  <a:srgbClr val="FFFFFF"/>
                </a:solidFill>
                <a:latin typeface="맑은 고딕"/>
                <a:ea typeface="맑은 고딕"/>
              </a:rPr>
              <a:t>-52%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86868B"/>
                </a:solidFill>
                <a:latin typeface="맑은 고딕"/>
                <a:ea typeface="맑은 고딕"/>
              </a:rPr>
              <a:t>신규 Agent 리드타임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40690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spc="-70">
                <a:solidFill>
                  <a:srgbClr val="FFFFFF"/>
                </a:solidFill>
                <a:latin typeface="맑은 고딕"/>
                <a:ea typeface="맑은 고딕"/>
              </a:rPr>
              <a:t>-38%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86868B"/>
                </a:solidFill>
                <a:latin typeface="맑은 고딕"/>
                <a:ea typeface="맑은 고딕"/>
              </a:rPr>
              <a:t>중복 Agent · 운영비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0690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spc="-70">
                <a:solidFill>
                  <a:srgbClr val="FFFFFF"/>
                </a:solidFill>
                <a:latin typeface="맑은 고딕"/>
                <a:ea typeface="맑은 고딕"/>
              </a:rPr>
              <a:t>선순환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86868B"/>
                </a:solidFill>
                <a:latin typeface="맑은 고딕"/>
                <a:ea typeface="맑은 고딕"/>
              </a:rPr>
              <a:t>운영할수록 좋아지는 품질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CCCCCC"/>
                </a:solidFill>
                <a:latin typeface="맑은 고딕"/>
                <a:ea typeface="맑은 고딕"/>
              </a:rPr>
              <a:t>현장에서 발견한 문제로 시작해, 검증된 해결책을 거쳐, 아이티센의 다음 성장 동력이 되겠습니다.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감사합니다  ·  라이브 데모(콘솔 + Swagger UI) 준비 완료  ·  ※ 효과 수치는 수행 경험 기반 추정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