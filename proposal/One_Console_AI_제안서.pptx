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78240" y="-1280160"/>
            <a:ext cx="4937760" cy="4937760"/>
          </a:xfrm>
          <a:prstGeom prst="roundRect">
            <a:avLst>
              <a:gd name="adj" fmla="val 25000"/>
            </a:avLst>
          </a:prstGeom>
          <a:solidFill>
            <a:srgbClr val="1E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463040" y="4937760"/>
            <a:ext cx="4206240" cy="4206240"/>
          </a:xfrm>
          <a:prstGeom prst="roundRect">
            <a:avLst>
              <a:gd name="adj" fmla="val 25000"/>
            </a:avLst>
          </a:prstGeom>
          <a:solidFill>
            <a:srgbClr val="1E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51206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98755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1">
                <a:solidFill>
                  <a:srgbClr val="A9ABD6"/>
                </a:solidFill>
                <a:latin typeface="맑은 고딕"/>
                <a:ea typeface="맑은 고딕"/>
              </a:rPr>
              <a:t>ITCEN 신사업 아이디어 공모전  ·  아이디어 제안서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맑은 고딕"/>
                <a:ea typeface="맑은 고딕"/>
              </a:rPr>
              <a:t>One Console AI</a:t>
            </a:r>
          </a:p>
          <a:p>
            <a:pPr algn="l">
              <a:lnSpc>
                <a:spcPct val="114000"/>
              </a:lnSpc>
            </a:pPr>
            <a:r>
              <a:rPr sz="2400" b="1">
                <a:solidFill>
                  <a:srgbClr val="C7C9EC"/>
                </a:solidFill>
                <a:latin typeface="맑은 고딕"/>
                <a:ea typeface="맑은 고딕"/>
              </a:rPr>
              <a:t>AI Agent 통합 형상관리 플랫폼 (AgentOps)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" y="4041648"/>
            <a:ext cx="2194560" cy="6400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기업 AI를, 프로젝트가 아닌 플랫폼으로.</a:t>
            </a:r>
          </a:p>
          <a:p>
            <a:pPr algn="l">
              <a:lnSpc>
                <a:spcPct val="114000"/>
              </a:lnSpc>
            </a:pPr>
            <a:r>
              <a:rPr sz="1300" b="0">
                <a:solidFill>
                  <a:srgbClr val="A9ABD6"/>
                </a:solidFill>
                <a:latin typeface="맑은 고딕"/>
                <a:ea typeface="맑은 고딕"/>
              </a:rPr>
              <a:t>현장에서 반복된 문제를 해결하며 검증한 방식을, 아이티센의 차세대 사업으로 제안합니다.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6235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E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637276"/>
            <a:ext cx="173736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8B7CFF"/>
                </a:solidFill>
                <a:latin typeface="맑은 고딕"/>
                <a:ea typeface="맑은 고딕"/>
              </a:rPr>
              <a:t>지식 정제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79" y="56235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E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79" y="5637276"/>
            <a:ext cx="173736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4B5CFF"/>
                </a:solidFill>
                <a:latin typeface="맑은 고딕"/>
                <a:ea typeface="맑은 고딕"/>
              </a:rPr>
              <a:t>Agent Config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1998" y="56235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E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8" y="5637276"/>
            <a:ext cx="173736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12B886"/>
                </a:solidFill>
                <a:latin typeface="맑은 고딕"/>
                <a:ea typeface="맑은 고딕"/>
              </a:rPr>
              <a:t>운영·개선 선순환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8B90B5"/>
                </a:solidFill>
                <a:latin typeface="맑은 고딕"/>
                <a:ea typeface="맑은 고딕"/>
              </a:rPr>
              <a:t>2026. 07  ·  제안팀: 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4B5CFF"/>
                </a:solidFill>
                <a:latin typeface="맑은 고딕"/>
                <a:ea typeface="맑은 고딕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>
                <a:solidFill>
                  <a:srgbClr val="171A2B"/>
                </a:solidFill>
                <a:latin typeface="맑은 고딕"/>
                <a:ea typeface="맑은 고딕"/>
              </a:rPr>
              <a:t>제안 요약 — 심사 기준에 그대로 답합니다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One Console AI · ITCEN 신사업 공모전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1">
                <a:solidFill>
                  <a:srgbClr val="8A90A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11057839" cy="1133856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6002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13916"/>
            <a:ext cx="14173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A5252"/>
                </a:solidFill>
                <a:latin typeface="맑은 고딕"/>
                <a:ea typeface="맑은 고딕"/>
              </a:rPr>
              <a:t>문제 발굴 · 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7" y="1563624"/>
            <a:ext cx="89089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350" b="1">
                <a:solidFill>
                  <a:srgbClr val="171A2B"/>
                </a:solidFill>
                <a:latin typeface="맑은 고딕"/>
                <a:ea typeface="맑은 고딕"/>
              </a:rPr>
              <a:t>대기업 AI Agent 프로젝트를 거듭 수행하며 발견한 구조적 문제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프로젝트마다 데이터 전처리·프롬프트·검색 설정을 처음부터 다시 구축 — 지식·형상·운영 데이터가 전부 흩어져 있어 품질과 비용이 매번 흔들립니다.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60904"/>
            <a:ext cx="11057839" cy="1133856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" y="284378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57500"/>
            <a:ext cx="14173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4B5CFF"/>
                </a:solidFill>
                <a:latin typeface="맑은 고딕"/>
                <a:ea typeface="맑은 고딕"/>
              </a:rPr>
              <a:t>솔루션 ·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7" y="2807208"/>
            <a:ext cx="89089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350" b="1">
                <a:solidFill>
                  <a:srgbClr val="171A2B"/>
                </a:solidFill>
                <a:latin typeface="맑은 고딕"/>
                <a:ea typeface="맑은 고딕"/>
              </a:rPr>
              <a:t>One Console AI — 하나의 콘솔로 AgentOps 전 과정을 형상관리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RAG 파이프라인으로 지식을 정제하고, bot_type 하나로 프롬프트·검색 설정을 묶어 REST API로 제공. 운영 신호가 콘솔로 되돌아와 개선으로 이어집니다.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04488"/>
            <a:ext cx="11057839" cy="1133856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408736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3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101084"/>
            <a:ext cx="14173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12B886"/>
                </a:solidFill>
                <a:latin typeface="맑은 고딕"/>
                <a:ea typeface="맑은 고딕"/>
              </a:rPr>
              <a:t>사업화 ·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1447" y="4050792"/>
            <a:ext cx="89089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350" b="1">
                <a:solidFill>
                  <a:srgbClr val="171A2B"/>
                </a:solidFill>
                <a:latin typeface="맑은 고딕"/>
                <a:ea typeface="맑은 고딕"/>
              </a:rPr>
              <a:t>구축(SI) + 구독(SaaS) + 운영(MSP) 하이브리드 수익 모델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아이티센 그룹의 고객망·SI 수행력과 직결. 기존 AI/SI 프로젝트에 플랫폼을 얹어 반복 매출로 전환하는 현실적 경로를 제시합니다.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8072"/>
            <a:ext cx="11057839" cy="1133856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8096" y="533095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344668"/>
            <a:ext cx="14173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59F00"/>
                </a:solidFill>
                <a:latin typeface="맑은 고딕"/>
                <a:ea typeface="맑은 고딕"/>
              </a:rPr>
              <a:t>실행력 ·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41447" y="5294376"/>
            <a:ext cx="89089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350" b="1">
                <a:solidFill>
                  <a:srgbClr val="171A2B"/>
                </a:solidFill>
                <a:latin typeface="맑은 고딕"/>
                <a:ea typeface="맑은 고딕"/>
              </a:rPr>
              <a:t>아이디어가 아니라, 이미 동작하는 MVP로 제안합니다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관리 콘솔 + ITCEN-API(REST/Swagger) + RAG 파이프라인 + 운영 대시보드가 구현되어 시연 가능한 상태입니다.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FA5252"/>
                </a:solidFill>
                <a:latin typeface="맑은 고딕"/>
                <a:ea typeface="맑은 고딕"/>
              </a:rPr>
              <a:t>문제 발굴력 &amp; INDUSTRY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>
                <a:solidFill>
                  <a:srgbClr val="171A2B"/>
                </a:solidFill>
                <a:latin typeface="맑은 고딕"/>
                <a:ea typeface="맑은 고딕"/>
              </a:rPr>
              <a:t>현장의 발견 — “N번째 프로젝트에서, 같은 것을 또 만들고 있었다”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78847" y="5029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78847" y="516636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4B5CFF"/>
                </a:solidFill>
                <a:latin typeface="맑은 고딕"/>
                <a:ea typeface="맑은 고딕"/>
              </a:rPr>
              <a:t>35점 · 1/4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One Console AI · ITCEN 신사업 공모전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1">
                <a:solidFill>
                  <a:srgbClr val="8A90A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71600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4A4F66"/>
                </a:solidFill>
                <a:latin typeface="맑은 고딕"/>
                <a:ea typeface="맑은 고딕"/>
              </a:rPr>
              <a:t>글로벌 제조 대기업의 AI Agent 프로젝트를 거듭 수행하며, 새 프로젝트가 시작될 때마다 </a:t>
            </a:r>
            <a:r>
              <a:rPr sz="1250" b="1">
                <a:solidFill>
                  <a:srgbClr val="FA5252"/>
                </a:solidFill>
                <a:latin typeface="맑은 고딕"/>
                <a:ea typeface="맑은 고딕"/>
              </a:rPr>
              <a:t>동일한 기반 작업이 반복</a:t>
            </a:r>
            <a:r>
              <a:rPr sz="1250" b="0">
                <a:solidFill>
                  <a:srgbClr val="4A4F66"/>
                </a:solidFill>
                <a:latin typeface="맑은 고딕"/>
                <a:ea typeface="맑은 고딕"/>
              </a:rPr>
              <a:t>되는 것을 목격했습니다. 문제는 기술이 아니라 </a:t>
            </a:r>
            <a:r>
              <a:rPr sz="1250" b="1">
                <a:solidFill>
                  <a:srgbClr val="171A2B"/>
                </a:solidFill>
                <a:latin typeface="맑은 고딕"/>
                <a:ea typeface="맑은 고딕"/>
              </a:rPr>
              <a:t>자산화되지 않는 구조</a:t>
            </a:r>
            <a:r>
              <a:rPr sz="1250" b="0">
                <a:solidFill>
                  <a:srgbClr val="4A4F66"/>
                </a:solidFill>
                <a:latin typeface="맑은 고딕"/>
                <a:ea typeface="맑은 고딕"/>
              </a:rPr>
              <a:t>였습니다.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86000"/>
            <a:ext cx="11057839" cy="1170432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2286000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FA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23160"/>
            <a:ext cx="1050919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300" b="1">
                <a:solidFill>
                  <a:srgbClr val="FA5252"/>
                </a:solidFill>
                <a:latin typeface="맑은 고딕"/>
                <a:ea typeface="맑은 고딕"/>
              </a:rPr>
              <a:t>반복 ①  데이터 전처리 재구축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71A2B"/>
                </a:solidFill>
                <a:latin typeface="맑은 고딕"/>
                <a:ea typeface="맑은 고딕"/>
              </a:rPr>
              <a:t>· Confluence·PDF·Excel·이미지 파싱과 정제 파이프라인을 프로젝트마다 새로 개발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· 이전 프로젝트의 전처리 코드는 그 프로젝트와 함께 사라짐 — 노하우가 조직 자산이 되지 못함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84448"/>
            <a:ext cx="11057839" cy="1170432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584448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F5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721608"/>
            <a:ext cx="1050919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300" b="1">
                <a:solidFill>
                  <a:srgbClr val="F59F00"/>
                </a:solidFill>
                <a:latin typeface="맑은 고딕"/>
                <a:ea typeface="맑은 고딕"/>
              </a:rPr>
              <a:t>반복 ②  프롬프트·검색 설정 개별 관리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71A2B"/>
                </a:solidFill>
                <a:latin typeface="맑은 고딕"/>
                <a:ea typeface="맑은 고딕"/>
              </a:rPr>
              <a:t>· System Prompt는 소스코드·위키·개인 메모에 흩어지고, 검색 파라미터는 담당자 머릿속에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· 담당자가 바뀌면 품질이 흔들리고, 무엇이 왜 바뀌었는지 이력 추적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82896"/>
            <a:ext cx="11057839" cy="1170432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4882896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020056"/>
            <a:ext cx="1050919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300" b="1">
                <a:solidFill>
                  <a:srgbClr val="4B5CFF"/>
                </a:solidFill>
                <a:latin typeface="맑은 고딕"/>
                <a:ea typeface="맑은 고딕"/>
              </a:rPr>
              <a:t>반복 ③  운영 데이터의 증발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71A2B"/>
                </a:solidFill>
                <a:latin typeface="맑은 고딕"/>
                <a:ea typeface="맑은 고딕"/>
              </a:rPr>
              <a:t>· 답변 로그·사용자 불만이 수집되지 않거나, 수집돼도 개선으로 연결되는 경로가 없음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· 오픈 이후 품질이 개선되지 않는 ‘일회성 구축형 AI’로 고착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FA5252"/>
                </a:solidFill>
                <a:latin typeface="맑은 고딕"/>
                <a:ea typeface="맑은 고딕"/>
              </a:rPr>
              <a:t>문제 발굴력 &amp; INDUSTRY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>
                <a:solidFill>
                  <a:srgbClr val="171A2B"/>
                </a:solidFill>
                <a:latin typeface="맑은 고딕"/>
                <a:ea typeface="맑은 고딕"/>
              </a:rPr>
              <a:t>문제의 구조 — 다섯 가지가 다섯 곳에서 따로 관리된다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78847" y="5029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78847" y="516636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4B5CFF"/>
                </a:solidFill>
                <a:latin typeface="맑은 고딕"/>
                <a:ea typeface="맑은 고딕"/>
              </a:rPr>
              <a:t>35점 · 2/4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One Console AI · ITCEN 신사업 공모전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1">
                <a:solidFill>
                  <a:srgbClr val="8A90A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63040"/>
            <a:ext cx="20574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B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2057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200" b="1">
                <a:solidFill>
                  <a:srgbClr val="8B7CFF"/>
                </a:solidFill>
                <a:latin typeface="맑은 고딕"/>
                <a:ea typeface="맑은 고딕"/>
              </a:rPr>
              <a:t>도메인 데이터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5496" y="1463040"/>
            <a:ext cx="20574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B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5496" y="1481328"/>
            <a:ext cx="2057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200" b="1">
                <a:solidFill>
                  <a:srgbClr val="4B5CFF"/>
                </a:solidFill>
                <a:latin typeface="맑은 고딕"/>
                <a:ea typeface="맑은 고딕"/>
              </a:rPr>
              <a:t>사내 지식(RAG)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463040"/>
            <a:ext cx="20574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2B8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4064" y="1481328"/>
            <a:ext cx="2057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200" b="1">
                <a:solidFill>
                  <a:srgbClr val="12B886"/>
                </a:solidFill>
                <a:latin typeface="맑은 고딕"/>
                <a:ea typeface="맑은 고딕"/>
              </a:rPr>
              <a:t>System Prompt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2632" y="1463040"/>
            <a:ext cx="20574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5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2" y="1481328"/>
            <a:ext cx="2057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200" b="1">
                <a:solidFill>
                  <a:srgbClr val="F59F00"/>
                </a:solidFill>
                <a:latin typeface="맑은 고딕"/>
                <a:ea typeface="맑은 고딕"/>
              </a:rPr>
              <a:t>검색 설정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463040"/>
            <a:ext cx="20574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A5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481328"/>
            <a:ext cx="2057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200" b="1">
                <a:solidFill>
                  <a:srgbClr val="FA5252"/>
                </a:solidFill>
                <a:latin typeface="맑은 고딕"/>
                <a:ea typeface="맑은 고딕"/>
              </a:rPr>
              <a:t>운영 로그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2860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250" b="1">
                <a:solidFill>
                  <a:srgbClr val="4A4F66"/>
                </a:solidFill>
                <a:latin typeface="맑은 고딕"/>
                <a:ea typeface="맑은 고딕"/>
              </a:rPr>
              <a:t>↓  각각 분산 관리 → AI 서비스 품질을 일관되게 유지할 수 없음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834640"/>
            <a:ext cx="3566160" cy="1554480"/>
          </a:xfrm>
          <a:prstGeom prst="roundRect">
            <a:avLst>
              <a:gd name="adj" fmla="val 10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2980944"/>
            <a:ext cx="31638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2400" b="1">
                <a:solidFill>
                  <a:srgbClr val="FA5252"/>
                </a:solidFill>
                <a:latin typeface="맑은 고딕"/>
                <a:ea typeface="맑은 고딕"/>
              </a:rPr>
              <a:t>8주+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50" b="1">
                <a:solidFill>
                  <a:srgbClr val="171A2B"/>
                </a:solidFill>
                <a:latin typeface="맑은 고딕"/>
                <a:ea typeface="맑은 고딕"/>
              </a:rPr>
              <a:t>신규 Agent 구축 리드타임</a:t>
            </a:r>
          </a:p>
          <a:p>
            <a:pPr algn="l">
              <a:lnSpc>
                <a:spcPct val="114000"/>
              </a:lnSpc>
            </a:pPr>
            <a:r>
              <a:rPr sz="950" b="0">
                <a:solidFill>
                  <a:srgbClr val="4A4F66"/>
                </a:solidFill>
                <a:latin typeface="맑은 고딕"/>
                <a:ea typeface="맑은 고딕"/>
              </a:rPr>
              <a:t>전처리·프롬프트·검색 설정을 매번 처음부터 구성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7" y="2834640"/>
            <a:ext cx="3566160" cy="1554480"/>
          </a:xfrm>
          <a:prstGeom prst="roundRect">
            <a:avLst>
              <a:gd name="adj" fmla="val 10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5" y="2980944"/>
            <a:ext cx="31638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2400" b="1">
                <a:solidFill>
                  <a:srgbClr val="F59F00"/>
                </a:solidFill>
                <a:latin typeface="맑은 고딕"/>
                <a:ea typeface="맑은 고딕"/>
              </a:rPr>
              <a:t>30~40%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50" b="1">
                <a:solidFill>
                  <a:srgbClr val="171A2B"/>
                </a:solidFill>
                <a:latin typeface="맑은 고딕"/>
                <a:ea typeface="맑은 고딕"/>
              </a:rPr>
              <a:t>유사 기능 Agent 중복 개발</a:t>
            </a:r>
          </a:p>
          <a:p>
            <a:pPr algn="l">
              <a:lnSpc>
                <a:spcPct val="114000"/>
              </a:lnSpc>
            </a:pPr>
            <a:r>
              <a:rPr sz="950" b="0">
                <a:solidFill>
                  <a:srgbClr val="4A4F66"/>
                </a:solidFill>
                <a:latin typeface="맑은 고딕"/>
                <a:ea typeface="맑은 고딕"/>
              </a:rPr>
              <a:t>부서별로 같은 기능의 봇을 각자 구축·운영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7" y="2834640"/>
            <a:ext cx="3566160" cy="1554480"/>
          </a:xfrm>
          <a:prstGeom prst="roundRect">
            <a:avLst>
              <a:gd name="adj" fmla="val 1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5" y="2980944"/>
            <a:ext cx="31638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2400" b="1">
                <a:solidFill>
                  <a:srgbClr val="4B5CFF"/>
                </a:solidFill>
                <a:latin typeface="맑은 고딕"/>
                <a:ea typeface="맑은 고딕"/>
              </a:rPr>
              <a:t>부재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50" b="1">
                <a:solidFill>
                  <a:srgbClr val="171A2B"/>
                </a:solidFill>
                <a:latin typeface="맑은 고딕"/>
                <a:ea typeface="맑은 고딕"/>
              </a:rPr>
              <a:t>개선 사이클</a:t>
            </a:r>
          </a:p>
          <a:p>
            <a:pPr algn="l">
              <a:lnSpc>
                <a:spcPct val="114000"/>
              </a:lnSpc>
            </a:pPr>
            <a:r>
              <a:rPr sz="950" b="0">
                <a:solidFill>
                  <a:srgbClr val="4A4F66"/>
                </a:solidFill>
                <a:latin typeface="맑은 고딕"/>
                <a:ea typeface="맑은 고딕"/>
              </a:rPr>
              <a:t>로그·피드백이 프롬프트·검색 정책 개선으로 연결되지 않음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17720"/>
            <a:ext cx="11057839" cy="1371600"/>
          </a:xfrm>
          <a:prstGeom prst="roundRect">
            <a:avLst>
              <a:gd name="adj" fmla="val 10000"/>
            </a:avLst>
          </a:prstGeom>
          <a:solidFill>
            <a:srgbClr val="12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4828032"/>
            <a:ext cx="1041775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결과: AI가 ‘운영되는 서비스’가 아니라 ‘끝나는 프로젝트’가 된다</a:t>
            </a:r>
          </a:p>
          <a:p>
            <a:pPr algn="l">
              <a:lnSpc>
                <a:spcPct val="114000"/>
              </a:lnSpc>
            </a:pPr>
            <a:r>
              <a:rPr sz="1150" b="0">
                <a:solidFill>
                  <a:srgbClr val="C7C9EC"/>
                </a:solidFill>
                <a:latin typeface="맑은 고딕"/>
                <a:ea typeface="맑은 고딕"/>
              </a:rPr>
              <a:t>만들 때마다 비용은 다시 들고, 품질은 담당자 역량에 좌우되며, 시간이 지나도 나아지지 않는다 — 이것이 고객 현장에서 확인한 진짜 Pain Point입니다.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10819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※ 수치는 당사 프로젝트 수행 경험 기반 추정치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FA5252"/>
                </a:solidFill>
                <a:latin typeface="맑은 고딕"/>
                <a:ea typeface="맑은 고딕"/>
              </a:rPr>
              <a:t>문제 발굴력 &amp; INDUSTRY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>
                <a:solidFill>
                  <a:srgbClr val="171A2B"/>
                </a:solidFill>
                <a:latin typeface="맑은 고딕"/>
                <a:ea typeface="맑은 고딕"/>
              </a:rPr>
              <a:t>Industry Insight — 시장의 병목이 ‘개발’에서 ‘운영’으로 이동했다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78847" y="5029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78847" y="516636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4B5CFF"/>
                </a:solidFill>
                <a:latin typeface="맑은 고딕"/>
                <a:ea typeface="맑은 고딕"/>
              </a:rPr>
              <a:t>35점 · 3/4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One Console AI · ITCEN 신사업 공모전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1">
                <a:solidFill>
                  <a:srgbClr val="8A90A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17320"/>
            <a:ext cx="11057839" cy="1115568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17320"/>
            <a:ext cx="82296" cy="111556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536192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300" b="1">
                <a:solidFill>
                  <a:srgbClr val="4B5CFF"/>
                </a:solidFill>
                <a:latin typeface="맑은 고딕"/>
                <a:ea typeface="맑은 고딕"/>
              </a:rPr>
              <a:t>① PoC의 시대 → 운영의 시대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71A2B"/>
                </a:solidFill>
                <a:latin typeface="맑은 고딕"/>
                <a:ea typeface="맑은 고딕"/>
              </a:rPr>
              <a:t>· 생성형 AI 도입 기업의 관심사가 ‘만들 수 있는가’에서 ‘계속 잘 돌아가는가’로 전환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· PoC 이후 운영 단계에서 좌초하는 프로젝트가 다수 — 운영 체계가 성패를 가름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660904"/>
            <a:ext cx="11057839" cy="1115568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2660904"/>
            <a:ext cx="82296" cy="1115568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779776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300" b="1">
                <a:solidFill>
                  <a:srgbClr val="8B7CFF"/>
                </a:solidFill>
                <a:latin typeface="맑은 고딕"/>
                <a:ea typeface="맑은 고딕"/>
              </a:rPr>
              <a:t>② 기업당 Agent 수의 폭증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71A2B"/>
                </a:solidFill>
                <a:latin typeface="맑은 고딕"/>
                <a:ea typeface="맑은 고딕"/>
              </a:rPr>
              <a:t>· 부서·업무별 특화 Agent가 늘며 한 기업이 수십 개의 봇을 보유하는 시대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· 개별 관리 방식은 Agent 10개를 넘는 순간 비용·품질 모두 통제 불능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04488"/>
            <a:ext cx="11057839" cy="1115568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904488"/>
            <a:ext cx="82296" cy="1115568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023360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300" b="1">
                <a:solidFill>
                  <a:srgbClr val="12B886"/>
                </a:solidFill>
                <a:latin typeface="맑은 고딕"/>
                <a:ea typeface="맑은 고딕"/>
              </a:rPr>
              <a:t>③ 그러나 ‘AgentOps’ 표준은 공백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71A2B"/>
                </a:solidFill>
                <a:latin typeface="맑은 고딕"/>
                <a:ea typeface="맑은 고딕"/>
              </a:rPr>
              <a:t>· DevOps·MLOps는 성숙했지만, Agent의 지식·프롬프트·검색·운영을 묶는 형상관리 표준은 부재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· 특히 한국어 사내 문서 처리와 구축형(On-prem) 수요를 채우는 국내 플레이어 공백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202936"/>
            <a:ext cx="11057839" cy="868680"/>
          </a:xfrm>
          <a:prstGeom prst="roundRect">
            <a:avLst>
              <a:gd name="adj" fmla="val 1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330952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1">
                <a:solidFill>
                  <a:srgbClr val="4B5CFF"/>
                </a:solidFill>
                <a:latin typeface="맑은 고딕"/>
                <a:ea typeface="맑은 고딕"/>
              </a:rPr>
              <a:t>Insight  </a:t>
            </a:r>
            <a:r>
              <a:rPr sz="1250" b="1">
                <a:solidFill>
                  <a:srgbClr val="171A2B"/>
                </a:solidFill>
                <a:latin typeface="맑은 고딕"/>
                <a:ea typeface="맑은 고딕"/>
              </a:rPr>
              <a:t>이제 기업 AI의 경쟁력은 ‘모델’이 아니라 ‘지식 → Agent → 운영 → 개선’을 돌리는 체계에서 나온다. </a:t>
            </a:r>
            <a:r>
              <a:rPr sz="1250" b="1">
                <a:solidFill>
                  <a:srgbClr val="4B5CFF"/>
                </a:solidFill>
                <a:latin typeface="맑은 고딕"/>
                <a:ea typeface="맑은 고딕"/>
              </a:rPr>
              <a:t>이 체계를 제품으로 만드는 것이 One Console AI입니다.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FA5252"/>
                </a:solidFill>
                <a:latin typeface="맑은 고딕"/>
                <a:ea typeface="맑은 고딕"/>
              </a:rPr>
              <a:t>문제 발굴력 &amp; INDUSTRY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>
                <a:solidFill>
                  <a:srgbClr val="171A2B"/>
                </a:solidFill>
                <a:latin typeface="맑은 고딕"/>
                <a:ea typeface="맑은 고딕"/>
              </a:rPr>
              <a:t>고객의 목소리 — 세 역할, 같은 고통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78847" y="5029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78847" y="516636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4B5CFF"/>
                </a:solidFill>
                <a:latin typeface="맑은 고딕"/>
                <a:ea typeface="맑은 고딕"/>
              </a:rPr>
              <a:t>35점 · 4/4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One Console AI · ITCEN 신사업 공모전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1">
                <a:solidFill>
                  <a:srgbClr val="8A90A8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17320"/>
            <a:ext cx="3566160" cy="3977639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17320"/>
            <a:ext cx="3566160" cy="566928"/>
          </a:xfrm>
          <a:prstGeom prst="roundRect">
            <a:avLst>
              <a:gd name="adj" fmla="val 1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481328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AI 개발팀장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94560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>
                <a:solidFill>
                  <a:srgbClr val="171A2B"/>
                </a:solidFill>
                <a:latin typeface="맑은 고딕"/>
                <a:ea typeface="맑은 고딕"/>
              </a:rPr>
              <a:t>“봇 하나 추가하는데 왜 두 달이 걸리죠?”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29184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전처리·프롬프트를 매번 재작업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85876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담당자 이탈 시 형상 유실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425696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프로젝트 간 재사용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7" y="1417320"/>
            <a:ext cx="3566160" cy="3977639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15967" y="1417320"/>
            <a:ext cx="3566160" cy="566928"/>
          </a:xfrm>
          <a:prstGeom prst="roundRect">
            <a:avLst>
              <a:gd name="adj" fmla="val 10000"/>
            </a:avLst>
          </a:prstGeom>
          <a:solidFill>
            <a:srgbClr val="F5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7" y="1481328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서비스 운영 담당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7" y="2194560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>
                <a:solidFill>
                  <a:srgbClr val="171A2B"/>
                </a:solidFill>
                <a:latin typeface="맑은 고딕"/>
                <a:ea typeface="맑은 고딕"/>
              </a:rPr>
              <a:t>“답변이 틀렸다는데, 뭘 고쳐야 할지 모르겠어요.”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7" y="329184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로그·피드백이 흩어져 원인 추적 불가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7" y="385876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프롬프트 수정의 영향 범위 미상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7" y="4425696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멈춘 배치 작업을 수동 정리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6" y="1417320"/>
            <a:ext cx="3566160" cy="3977639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65006" y="1417320"/>
            <a:ext cx="3566160" cy="566928"/>
          </a:xfrm>
          <a:prstGeom prst="roundRect">
            <a:avLst>
              <a:gd name="adj" fmla="val 10000"/>
            </a:avLst>
          </a:prstGeom>
          <a:solidFill>
            <a:srgbClr val="12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6" y="1481328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정보보호·경영진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6" y="2194560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>
                <a:solidFill>
                  <a:srgbClr val="171A2B"/>
                </a:solidFill>
                <a:latin typeface="맑은 고딕"/>
                <a:ea typeface="맑은 고딕"/>
              </a:rPr>
              <a:t>“부서마다 AI를 따로 만드는데, 통제가 됩니까?”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6" y="329184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중복 투자로 운영비 증가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6" y="385876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변경 이력·승인 체계 부재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6" y="4425696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사내 데이터 반출·보안 리스크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62356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250" b="1">
                <a:solidFill>
                  <a:srgbClr val="171A2B"/>
                </a:solidFill>
                <a:latin typeface="맑은 고딕"/>
                <a:ea typeface="맑은 고딕"/>
              </a:rPr>
              <a:t>세 목소리의 공통분모 = “AI를 담을 운영 체계가 없다”  →  다음 장, 솔루션으로 답합니다.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4B5CFF"/>
                </a:solidFill>
                <a:latin typeface="맑은 고딕"/>
                <a:ea typeface="맑은 고딕"/>
              </a:rPr>
              <a:t>솔루션 유효성 &amp; 차별성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>
                <a:solidFill>
                  <a:srgbClr val="171A2B"/>
                </a:solidFill>
                <a:latin typeface="맑은 고딕"/>
                <a:ea typeface="맑은 고딕"/>
              </a:rPr>
              <a:t>One Console AI — 하나의 콘솔, 하나의 선순환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78847" y="5029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78847" y="516636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4B5CFF"/>
                </a:solidFill>
                <a:latin typeface="맑은 고딕"/>
                <a:ea typeface="맑은 고딕"/>
              </a:rPr>
              <a:t>30점 · 1/6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One Console AI · ITCEN 신사업 공모전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1">
                <a:solidFill>
                  <a:srgbClr val="8A90A8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71600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4A4F66"/>
                </a:solidFill>
                <a:latin typeface="맑은 고딕"/>
                <a:ea typeface="맑은 고딕"/>
              </a:rPr>
              <a:t>흩어진 사내 지식을 </a:t>
            </a:r>
            <a:r>
              <a:rPr sz="1250" b="1">
                <a:solidFill>
                  <a:srgbClr val="8B7CFF"/>
                </a:solidFill>
                <a:latin typeface="맑은 고딕"/>
                <a:ea typeface="맑은 고딕"/>
              </a:rPr>
              <a:t>RAG 파이프라인</a:t>
            </a:r>
            <a:r>
              <a:rPr sz="1250" b="0">
                <a:solidFill>
                  <a:srgbClr val="4A4F66"/>
                </a:solidFill>
                <a:latin typeface="맑은 고딕"/>
                <a:ea typeface="맑은 고딕"/>
              </a:rPr>
              <a:t>으로 정제하고, </a:t>
            </a:r>
            <a:r>
              <a:rPr sz="1250" b="1">
                <a:solidFill>
                  <a:srgbClr val="4B5CFF"/>
                </a:solidFill>
                <a:latin typeface="맑은 고딕"/>
                <a:ea typeface="맑은 고딕"/>
              </a:rPr>
              <a:t>Agent Config</a:t>
            </a:r>
            <a:r>
              <a:rPr sz="1250" b="0">
                <a:solidFill>
                  <a:srgbClr val="4A4F66"/>
                </a:solidFill>
                <a:latin typeface="맑은 고딕"/>
                <a:ea typeface="맑은 고딕"/>
              </a:rPr>
              <a:t>로 봇의 성격과 검색 범위를 빚어 </a:t>
            </a:r>
            <a:r>
              <a:rPr sz="1250" b="1">
                <a:solidFill>
                  <a:srgbClr val="12B886"/>
                </a:solidFill>
                <a:latin typeface="맑은 고딕"/>
                <a:ea typeface="맑은 고딕"/>
              </a:rPr>
              <a:t>AI Agent로 수렴</a:t>
            </a:r>
            <a:r>
              <a:rPr sz="1250" b="0">
                <a:solidFill>
                  <a:srgbClr val="4A4F66"/>
                </a:solidFill>
                <a:latin typeface="맑은 고딕"/>
                <a:ea typeface="맑은 고딕"/>
              </a:rPr>
              <a:t>. 운영 신호는 다시 콘솔로 돌아와 </a:t>
            </a:r>
            <a:r>
              <a:rPr sz="1250" b="1">
                <a:solidFill>
                  <a:srgbClr val="F59F00"/>
                </a:solidFill>
                <a:latin typeface="맑은 고딕"/>
                <a:ea typeface="맑은 고딕"/>
              </a:rPr>
              <a:t>다음 개선의 출발점</a:t>
            </a:r>
            <a:r>
              <a:rPr sz="1250" b="0">
                <a:solidFill>
                  <a:srgbClr val="4A4F66"/>
                </a:solidFill>
                <a:latin typeface="맑은 고딕"/>
                <a:ea typeface="맑은 고딕"/>
              </a:rPr>
              <a:t>이 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48840"/>
            <a:ext cx="2587752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B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2148840"/>
            <a:ext cx="2587752" cy="475488"/>
          </a:xfrm>
          <a:prstGeom prst="roundRect">
            <a:avLst>
              <a:gd name="adj" fmla="val 10000"/>
            </a:avLst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94560"/>
            <a:ext cx="25877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1.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761488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Confluence·PDF·Excel·이미지
추출→전처리→가공→적재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697480"/>
            <a:ext cx="2468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600" b="1">
                <a:solidFill>
                  <a:srgbClr val="8A90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2148840"/>
            <a:ext cx="2587752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B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01568" y="2148840"/>
            <a:ext cx="2587752" cy="475488"/>
          </a:xfrm>
          <a:prstGeom prst="roundRect">
            <a:avLst>
              <a:gd name="adj" fmla="val 1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2194560"/>
            <a:ext cx="25877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2. Agent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761488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bot_type 키 하나로
Prompt + 검색 설정 형상관리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697480"/>
            <a:ext cx="2468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600" b="1">
                <a:solidFill>
                  <a:srgbClr val="8A90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2148840"/>
            <a:ext cx="2587752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2B8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6208" y="2148840"/>
            <a:ext cx="2587752" cy="475488"/>
          </a:xfrm>
          <a:prstGeom prst="roundRect">
            <a:avLst>
              <a:gd name="adj" fmla="val 10000"/>
            </a:avLst>
          </a:prstGeom>
          <a:solidFill>
            <a:srgbClr val="12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194560"/>
            <a:ext cx="25877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3. AI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761488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ITCEN-API(REST)로
형상을 호출해 서비스 동작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697480"/>
            <a:ext cx="2468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600" b="1">
                <a:solidFill>
                  <a:srgbClr val="8A90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2148840"/>
            <a:ext cx="2587752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5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70848" y="2148840"/>
            <a:ext cx="2587752" cy="475488"/>
          </a:xfrm>
          <a:prstGeom prst="roundRect">
            <a:avLst>
              <a:gd name="adj" fmla="val 10000"/>
            </a:avLst>
          </a:prstGeom>
          <a:solidFill>
            <a:srgbClr val="F5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0848" y="2194560"/>
            <a:ext cx="25877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4. 운영 &amp; 개선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8008" y="2761488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로그·피드백·사용량 회귀
개선 큐 → 새 버전 배포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977639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50" b="1">
                <a:solidFill>
                  <a:srgbClr val="4B5CFF"/>
                </a:solidFill>
                <a:latin typeface="맑은 고딕"/>
                <a:ea typeface="맑은 고딕"/>
              </a:rPr>
              <a:t>↺  4 → 1 로 되돌아가는 폐쇄 루프: 운영할수록 지식·프롬프트·검색 정책이 좋아지는 구조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526280"/>
            <a:ext cx="2633472" cy="141732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681728"/>
            <a:ext cx="230428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200" b="1">
                <a:solidFill>
                  <a:srgbClr val="171A2B"/>
                </a:solidFill>
                <a:latin typeface="맑은 고딕"/>
                <a:ea typeface="맑은 고딕"/>
              </a:rPr>
              <a:t>개발·운영 표준화</a:t>
            </a:r>
          </a:p>
          <a:p>
            <a:pPr algn="l">
              <a:lnSpc>
                <a:spcPct val="114000"/>
              </a:lnSpc>
            </a:pPr>
            <a:r>
              <a:rPr sz="980" b="0">
                <a:solidFill>
                  <a:srgbClr val="4A4F66"/>
                </a:solidFill>
                <a:latin typeface="맑은 고딕"/>
                <a:ea typeface="맑은 고딕"/>
              </a:rPr>
              <a:t>Agent 생성·Prompt·검색 설정 통합 관리로 반복 개발 최소화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74136" y="4526280"/>
            <a:ext cx="2633472" cy="141732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38728" y="4681728"/>
            <a:ext cx="230428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200" b="1">
                <a:solidFill>
                  <a:srgbClr val="171A2B"/>
                </a:solidFill>
                <a:latin typeface="맑은 고딕"/>
                <a:ea typeface="맑은 고딕"/>
              </a:rPr>
              <a:t>사내 지식 극대화</a:t>
            </a:r>
          </a:p>
          <a:p>
            <a:pPr algn="l">
              <a:lnSpc>
                <a:spcPct val="114000"/>
              </a:lnSpc>
            </a:pPr>
            <a:r>
              <a:rPr sz="980" b="0">
                <a:solidFill>
                  <a:srgbClr val="4A4F66"/>
                </a:solidFill>
                <a:latin typeface="맑은 고딕"/>
                <a:ea typeface="맑은 고딕"/>
              </a:rPr>
              <a:t>분산 문서를 자동으로 RAG 지식화, 최신 정보 기반 응답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1344" y="4526280"/>
            <a:ext cx="2633472" cy="141732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4681728"/>
            <a:ext cx="230428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200" b="1">
                <a:solidFill>
                  <a:srgbClr val="171A2B"/>
                </a:solidFill>
                <a:latin typeface="맑은 고딕"/>
                <a:ea typeface="맑은 고딕"/>
              </a:rPr>
              <a:t>운영비 절감</a:t>
            </a:r>
          </a:p>
          <a:p>
            <a:pPr algn="l">
              <a:lnSpc>
                <a:spcPct val="114000"/>
              </a:lnSpc>
            </a:pPr>
            <a:r>
              <a:rPr sz="980" b="0">
                <a:solidFill>
                  <a:srgbClr val="4A4F66"/>
                </a:solidFill>
                <a:latin typeface="맑은 고딕"/>
                <a:ea typeface="맑은 고딕"/>
              </a:rPr>
              <a:t>중복 Agent·Prompt 제거, 중앙 관리로 유지보수 부담 감소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88552" y="4526280"/>
            <a:ext cx="2633472" cy="141732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53144" y="4681728"/>
            <a:ext cx="230428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200" b="1">
                <a:solidFill>
                  <a:srgbClr val="171A2B"/>
                </a:solidFill>
                <a:latin typeface="맑은 고딕"/>
                <a:ea typeface="맑은 고딕"/>
              </a:rPr>
              <a:t>품질의 지속 향상</a:t>
            </a:r>
          </a:p>
          <a:p>
            <a:pPr algn="l">
              <a:lnSpc>
                <a:spcPct val="114000"/>
              </a:lnSpc>
            </a:pPr>
            <a:r>
              <a:rPr sz="980" b="0">
                <a:solidFill>
                  <a:srgbClr val="4A4F66"/>
                </a:solidFill>
                <a:latin typeface="맑은 고딕"/>
                <a:ea typeface="맑은 고딕"/>
              </a:rPr>
              <a:t>로그·피드백 분석 → 데이터 기반 개선 체계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4B5CFF"/>
                </a:solidFill>
                <a:latin typeface="맑은 고딕"/>
                <a:ea typeface="맑은 고딕"/>
              </a:rPr>
              <a:t>솔루션 유효성 &amp; 차별성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>
                <a:solidFill>
                  <a:srgbClr val="171A2B"/>
                </a:solidFill>
                <a:latin typeface="맑은 고딕"/>
                <a:ea typeface="맑은 고딕"/>
              </a:rPr>
              <a:t>핵심 기능 ① Knowledge — RAG 데이터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78847" y="5029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78847" y="516636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4B5CFF"/>
                </a:solidFill>
                <a:latin typeface="맑은 고딕"/>
                <a:ea typeface="맑은 고딕"/>
              </a:rPr>
              <a:t>30점 · 2/6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One Console AI · ITCEN 신사업 공모전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1">
                <a:solidFill>
                  <a:srgbClr val="8A90A8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716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4A4F66"/>
                </a:solidFill>
                <a:latin typeface="맑은 고딕"/>
                <a:ea typeface="맑은 고딕"/>
              </a:rPr>
              <a:t>어떤 형태의 사내 문서든, 같은 규칙으로 정제되어 RAGaaS Index에 적재됩니다.</a:t>
            </a:r>
          </a:p>
        </p:txBody>
      </p:sp>
      <p:sp>
        <p:nvSpPr>
          <p:cNvPr id="11" name="Pentagon 10"/>
          <p:cNvSpPr/>
          <p:nvPr/>
        </p:nvSpPr>
        <p:spPr>
          <a:xfrm>
            <a:off x="566928" y="1874519"/>
            <a:ext cx="1797253" cy="868680"/>
          </a:xfrm>
          <a:prstGeom prst="homePlate">
            <a:avLst/>
          </a:prstGeom>
          <a:solidFill>
            <a:srgbClr val="1E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수집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FFFFFF"/>
                </a:solidFill>
                <a:latin typeface="맑은 고딕"/>
                <a:ea typeface="맑은 고딕"/>
              </a:rPr>
              <a:t>Confluence·PDF
Excel·이미지</a:t>
            </a:r>
          </a:p>
        </p:txBody>
      </p:sp>
      <p:sp>
        <p:nvSpPr>
          <p:cNvPr id="12" name="Chevron 11"/>
          <p:cNvSpPr/>
          <p:nvPr/>
        </p:nvSpPr>
        <p:spPr>
          <a:xfrm>
            <a:off x="2419045" y="1874519"/>
            <a:ext cx="1797253" cy="868680"/>
          </a:xfrm>
          <a:prstGeom prst="chevron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추출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FFFFFF"/>
                </a:solidFill>
                <a:latin typeface="맑은 고딕"/>
                <a:ea typeface="맑은 고딕"/>
              </a:rPr>
              <a:t>텍스트·표·OCR</a:t>
            </a:r>
          </a:p>
        </p:txBody>
      </p:sp>
      <p:sp>
        <p:nvSpPr>
          <p:cNvPr id="13" name="Chevron 12"/>
          <p:cNvSpPr/>
          <p:nvPr/>
        </p:nvSpPr>
        <p:spPr>
          <a:xfrm>
            <a:off x="4271162" y="1874519"/>
            <a:ext cx="1797253" cy="868680"/>
          </a:xfrm>
          <a:prstGeom prst="chevron">
            <a:avLst/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전처리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FFFFFF"/>
                </a:solidFill>
                <a:latin typeface="맑은 고딕"/>
                <a:ea typeface="맑은 고딕"/>
              </a:rPr>
              <a:t>정제·중복 제거</a:t>
            </a:r>
          </a:p>
        </p:txBody>
      </p:sp>
      <p:sp>
        <p:nvSpPr>
          <p:cNvPr id="14" name="Chevron 13"/>
          <p:cNvSpPr/>
          <p:nvPr/>
        </p:nvSpPr>
        <p:spPr>
          <a:xfrm>
            <a:off x="6123279" y="1874519"/>
            <a:ext cx="1797253" cy="868680"/>
          </a:xfrm>
          <a:prstGeom prst="chevron">
            <a:avLst/>
          </a:prstGeom>
          <a:solidFill>
            <a:srgbClr val="12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가공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FFFFFF"/>
                </a:solidFill>
                <a:latin typeface="맑은 고딕"/>
                <a:ea typeface="맑은 고딕"/>
              </a:rPr>
              <a:t>캡셔닝·구조화</a:t>
            </a:r>
          </a:p>
        </p:txBody>
      </p:sp>
      <p:sp>
        <p:nvSpPr>
          <p:cNvPr id="15" name="Chevron 14"/>
          <p:cNvSpPr/>
          <p:nvPr/>
        </p:nvSpPr>
        <p:spPr>
          <a:xfrm>
            <a:off x="7975396" y="1874519"/>
            <a:ext cx="1797253" cy="868680"/>
          </a:xfrm>
          <a:prstGeom prst="chevron">
            <a:avLst/>
          </a:prstGeom>
          <a:solidFill>
            <a:srgbClr val="F5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적재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FFFFFF"/>
                </a:solidFill>
                <a:latin typeface="맑은 고딕"/>
                <a:ea typeface="맑은 고딕"/>
              </a:rPr>
              <a:t>청킹·임베딩</a:t>
            </a:r>
          </a:p>
        </p:txBody>
      </p:sp>
      <p:sp>
        <p:nvSpPr>
          <p:cNvPr id="16" name="Chevron 15"/>
          <p:cNvSpPr/>
          <p:nvPr/>
        </p:nvSpPr>
        <p:spPr>
          <a:xfrm>
            <a:off x="9827513" y="1874519"/>
            <a:ext cx="1797253" cy="868680"/>
          </a:xfrm>
          <a:prstGeom prst="chevron">
            <a:avLst/>
          </a:prstGeom>
          <a:solidFill>
            <a:srgbClr val="12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RAGaaS 동기화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FFFFFF"/>
                </a:solidFill>
                <a:latin typeface="맑은 고딕"/>
                <a:ea typeface="맑은 고딕"/>
              </a:rPr>
              <a:t>Index 반영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063240"/>
            <a:ext cx="5394960" cy="260604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24612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300" b="1">
                <a:solidFill>
                  <a:srgbClr val="171A2B"/>
                </a:solidFill>
                <a:latin typeface="맑은 고딕"/>
                <a:ea typeface="맑은 고딕"/>
              </a:rPr>
              <a:t>가공 단계 출력 규칙 (전 파이프라인 강제)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50" b="0">
                <a:solidFill>
                  <a:srgbClr val="4A4F66"/>
                </a:solidFill>
                <a:latin typeface="맑은 고딕"/>
                <a:ea typeface="맑은 고딕"/>
              </a:rPr>
              <a:t>·  모든 출력은 반드시 한국어로 작성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50" b="0">
                <a:solidFill>
                  <a:srgbClr val="4A4F66"/>
                </a:solidFill>
                <a:latin typeface="맑은 고딕"/>
                <a:ea typeface="맑은 고딕"/>
              </a:rPr>
              <a:t>·  서론·결론·인사말 절대 금지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50" b="0">
                <a:solidFill>
                  <a:srgbClr val="4A4F66"/>
                </a:solidFill>
                <a:latin typeface="맑은 고딕"/>
                <a:ea typeface="맑은 고딕"/>
              </a:rPr>
              <a:t>·  추측성 발언 금지 (“~인 것 같습니다” 차단)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150" b="0">
                <a:solidFill>
                  <a:srgbClr val="4A4F66"/>
                </a:solidFill>
                <a:latin typeface="맑은 고딕"/>
                <a:ea typeface="맑은 고딕"/>
              </a:rPr>
              <a:t>·  사실 위주의 건조하고 명확한 문장</a:t>
            </a:r>
          </a:p>
          <a:p>
            <a:pPr algn="l">
              <a:lnSpc>
                <a:spcPct val="114000"/>
              </a:lnSpc>
            </a:pPr>
            <a:r>
              <a:rPr sz="1150" b="1">
                <a:solidFill>
                  <a:srgbClr val="4B5CFF"/>
                </a:solidFill>
                <a:latin typeface="맑은 고딕"/>
                <a:ea typeface="맑은 고딕"/>
              </a:rPr>
              <a:t>→ 규칙 위반 출력은 적재 전 자동 반려·재생성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063240"/>
            <a:ext cx="5431536" cy="260604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246120"/>
            <a:ext cx="49834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300" b="1">
                <a:solidFill>
                  <a:srgbClr val="171A2B"/>
                </a:solidFill>
                <a:latin typeface="맑은 고딕"/>
                <a:ea typeface="맑은 고딕"/>
              </a:rPr>
              <a:t>왜 이것이 자산이 되는가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50" b="0">
                <a:solidFill>
                  <a:srgbClr val="4A4F66"/>
                </a:solidFill>
                <a:latin typeface="맑은 고딕"/>
                <a:ea typeface="맑은 고딕"/>
              </a:rPr>
              <a:t>·  전처리 노하우가 코드가 아닌 ‘플랫폼 기능’으로 축적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50" b="0">
                <a:solidFill>
                  <a:srgbClr val="4A4F66"/>
                </a:solidFill>
                <a:latin typeface="맑은 고딕"/>
                <a:ea typeface="맑은 고딕"/>
              </a:rPr>
              <a:t>·  신규 프로젝트는 소스 연결만으로 지식 구축 시작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50" b="0">
                <a:solidFill>
                  <a:srgbClr val="4A4F66"/>
                </a:solidFill>
                <a:latin typeface="맑은 고딕"/>
                <a:ea typeface="맑은 고딕"/>
              </a:rPr>
              <a:t>·  최신성(Freshness) 추적으로 오래된 지식 자동 감지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150" b="0">
                <a:solidFill>
                  <a:srgbClr val="4A4F66"/>
                </a:solidFill>
                <a:latin typeface="맑은 고딕"/>
                <a:ea typeface="맑은 고딕"/>
              </a:rPr>
              <a:t>·  Index 단위로 봇의 ‘지식 범위’를 통제 — 보안 경계 명확</a:t>
            </a:r>
          </a:p>
          <a:p>
            <a:pPr algn="l">
              <a:lnSpc>
                <a:spcPct val="114000"/>
              </a:lnSpc>
            </a:pPr>
            <a:r>
              <a:rPr sz="1150" b="1">
                <a:solidFill>
                  <a:srgbClr val="12B886"/>
                </a:solidFill>
                <a:latin typeface="맑은 고딕"/>
                <a:ea typeface="맑은 고딕"/>
              </a:rPr>
              <a:t>→ 리드타임 8주+ 를 수일 수준으로 단축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4B5CFF"/>
                </a:solidFill>
                <a:latin typeface="맑은 고딕"/>
                <a:ea typeface="맑은 고딕"/>
              </a:rPr>
              <a:t>솔루션 유효성 &amp; 차별성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>
                <a:solidFill>
                  <a:srgbClr val="171A2B"/>
                </a:solidFill>
                <a:latin typeface="맑은 고딕"/>
                <a:ea typeface="맑은 고딕"/>
              </a:rPr>
              <a:t>핵심 기능 ② Agent Config — bot_type 하나로 묶는 형상관리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78847" y="5029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78847" y="516636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4B5CFF"/>
                </a:solidFill>
                <a:latin typeface="맑은 고딕"/>
                <a:ea typeface="맑은 고딕"/>
              </a:rPr>
              <a:t>30점 · 3/6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One Console AI · ITCEN 신사업 공모전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1">
                <a:solidFill>
                  <a:srgbClr val="8A90A8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63040"/>
            <a:ext cx="3291840" cy="4114800"/>
          </a:xfrm>
          <a:prstGeom prst="roundRect">
            <a:avLst>
              <a:gd name="adj" fmla="val 10000"/>
            </a:avLst>
          </a:prstGeom>
          <a:solidFill>
            <a:srgbClr val="12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69164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00" b="1">
                <a:solidFill>
                  <a:srgbClr val="A9ABD6"/>
                </a:solidFill>
                <a:latin typeface="맑은 고딕"/>
                <a:ea typeface="맑은 고딕"/>
              </a:rPr>
              <a:t>고유 Key</a:t>
            </a:r>
          </a:p>
          <a:p>
            <a:pPr algn="l">
              <a:lnSpc>
                <a:spcPct val="114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bot_type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743200"/>
            <a:ext cx="27889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100" b="0">
                <a:solidFill>
                  <a:srgbClr val="C7C9EC"/>
                </a:solidFill>
                <a:latin typeface="맑은 고딕"/>
                <a:ea typeface="맑은 고딕"/>
              </a:rPr>
              <a:t>에이전트를 만들 때 정하는 이 키에 시스템 프롬프트(말투·역할)와 벡터 검색 설정(지식 범위)이 각각 매달립니다.</a:t>
            </a:r>
          </a:p>
          <a:p>
            <a:pPr algn="l">
              <a:lnSpc>
                <a:spcPct val="114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외부에서 봇을 호출할 때도 bot_type 하나로 식별 — 형상과 호출이 같은 키로 정렬됩니다.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87368" y="1463040"/>
            <a:ext cx="7534656" cy="969264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87368" y="1463040"/>
            <a:ext cx="82296" cy="969264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591056"/>
            <a:ext cx="7040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50" b="1">
                <a:solidFill>
                  <a:srgbClr val="4B5CFF"/>
                </a:solidFill>
                <a:latin typeface="맑은 고딕"/>
                <a:ea typeface="맑은 고딕"/>
              </a:rPr>
              <a:t>① 에이전트 생성</a:t>
            </a:r>
          </a:p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bot_type 확정 · 이름·도메인·담당자 등록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87368" y="2560320"/>
            <a:ext cx="7534656" cy="969264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87368" y="2560320"/>
            <a:ext cx="82296" cy="969264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2688336"/>
            <a:ext cx="7040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50" b="1">
                <a:solidFill>
                  <a:srgbClr val="8B7CFF"/>
                </a:solidFill>
                <a:latin typeface="맑은 고딕"/>
                <a:ea typeface="맑은 고딕"/>
              </a:rPr>
              <a:t>② System Prompt 등록</a:t>
            </a:r>
          </a:p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말투·역할 정의 — 저장할 때마다 새 버전 (v1.0 → v1.1), 원클릭 롤백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87368" y="3657600"/>
            <a:ext cx="7534656" cy="969264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87368" y="3657600"/>
            <a:ext cx="82296" cy="969264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3785616"/>
            <a:ext cx="7040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50" b="1">
                <a:solidFill>
                  <a:srgbClr val="12B886"/>
                </a:solidFill>
                <a:latin typeface="맑은 고딕"/>
                <a:ea typeface="맑은 고딕"/>
              </a:rPr>
              <a:t>③ 벡터 검색 설정</a:t>
            </a:r>
          </a:p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RAGaaS Index·Top-K·유사도 임계값·인용 강제·PII 마스킹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87368" y="4754880"/>
            <a:ext cx="7534656" cy="822960"/>
          </a:xfrm>
          <a:prstGeom prst="roundRect">
            <a:avLst>
              <a:gd name="adj" fmla="val 1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4882896"/>
            <a:ext cx="7040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4B5CFF"/>
                </a:solidFill>
                <a:latin typeface="맑은 고딕"/>
                <a:ea typeface="맑은 고딕"/>
              </a:rPr>
              <a:t>형상관리 효과  </a:t>
            </a:r>
            <a:r>
              <a:rPr sz="1150" b="0">
                <a:solidFill>
                  <a:srgbClr val="171A2B"/>
                </a:solidFill>
                <a:latin typeface="맑은 고딕"/>
                <a:ea typeface="맑은 고딕"/>
              </a:rPr>
              <a:t>누가·언제·왜 바꿨는지 전 이력 추적, 문제 시 즉시 롤백, 담당자가 바뀌어도 품질 유지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80644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4A4F66"/>
                </a:solidFill>
                <a:latin typeface="맑은 고딕"/>
                <a:ea typeface="맑은 고딕"/>
              </a:rPr>
              <a:t>세 설정이 모두 채워지면 상태가 자동으로 ‘운영’ 전환 — 미완성 형상의 서비스 투입을 구조적으로 차단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4B5CFF"/>
                </a:solidFill>
                <a:latin typeface="맑은 고딕"/>
                <a:ea typeface="맑은 고딕"/>
              </a:rPr>
              <a:t>솔루션 유효성 &amp; 차별성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>
                <a:solidFill>
                  <a:srgbClr val="171A2B"/>
                </a:solidFill>
                <a:latin typeface="맑은 고딕"/>
                <a:ea typeface="맑은 고딕"/>
              </a:rPr>
              <a:t>핵심 기능 ③ 운영 대시보드 &amp; 지속 개선 — 신호가 되돌아오는 콘솔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78847" y="5029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78847" y="516636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4B5CFF"/>
                </a:solidFill>
                <a:latin typeface="맑은 고딕"/>
                <a:ea typeface="맑은 고딕"/>
              </a:rPr>
              <a:t>30점 · 4/6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One Console AI · ITCEN 신사업 공모전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1">
                <a:solidFill>
                  <a:srgbClr val="8A90A8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63040"/>
            <a:ext cx="3566160" cy="31089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63040"/>
            <a:ext cx="3566160" cy="512064"/>
          </a:xfrm>
          <a:prstGeom prst="roundRect">
            <a:avLst>
              <a:gd name="adj" fmla="val 1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08760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수집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19456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답변 로그 전건 자동 기록 (질문·답변·근거·지연시간)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99232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사용자 피드백 (별점·코멘트) API 회귀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803904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봇별·일별 사용량 트렌드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8" y="278892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>
                <a:solidFill>
                  <a:srgbClr val="8A90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7" y="1463040"/>
            <a:ext cx="3566160" cy="31089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15967" y="1463040"/>
            <a:ext cx="3566160" cy="512064"/>
          </a:xfrm>
          <a:prstGeom prst="roundRect">
            <a:avLst>
              <a:gd name="adj" fmla="val 10000"/>
            </a:avLst>
          </a:prstGeom>
          <a:solidFill>
            <a:srgbClr val="F5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7" y="1508760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판정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5" y="219456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★2 이하 응답 → 개선 큐 자동 이관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5" y="2999232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근거 인용 실패 → 지식 공백 신호로 분류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5" y="3803904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4시간+ running 작업 → ‘멈춤’ 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278892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>
                <a:solidFill>
                  <a:srgbClr val="8A90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6" y="1463040"/>
            <a:ext cx="3566160" cy="31089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65006" y="1463040"/>
            <a:ext cx="3566160" cy="512064"/>
          </a:xfrm>
          <a:prstGeom prst="roundRect">
            <a:avLst>
              <a:gd name="adj" fmla="val 10000"/>
            </a:avLst>
          </a:prstGeom>
          <a:solidFill>
            <a:srgbClr val="12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6" y="1508760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조치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4" y="219456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Prompt 새 버전 배포 또는 검색 설정 조정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4" y="2999232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지식 소스 재수집·보강 파이프라인 실행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4" y="3803904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4A4F66"/>
                </a:solidFill>
                <a:latin typeface="맑은 고딕"/>
                <a:ea typeface="맑은 고딕"/>
              </a:rPr>
              <a:t>·  멈춘 작업 강제 종료로 운영 안정성 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92040"/>
            <a:ext cx="11057839" cy="1097280"/>
          </a:xfrm>
          <a:prstGeom prst="roundRect">
            <a:avLst>
              <a:gd name="adj" fmla="val 10000"/>
            </a:avLst>
          </a:prstGeom>
          <a:solidFill>
            <a:srgbClr val="12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5074920"/>
            <a:ext cx="1041775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모든 조치는 다시 ‘형상 이력’으로 기록됩니다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C7C9EC"/>
                </a:solidFill>
                <a:latin typeface="맑은 고딕"/>
                <a:ea typeface="맑은 고딕"/>
              </a:rPr>
              <a:t>개선 전후를 버전으로 비교할 수 있어, 운영할수록 좋아지는 AI가 데이터로 증명됩니다 — 경쟁 입찰에서 가장 강력한 레퍼런스가 되는 지점입니다.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4B5CFF"/>
                </a:solidFill>
                <a:latin typeface="맑은 고딕"/>
                <a:ea typeface="맑은 고딕"/>
              </a:rPr>
              <a:t>솔루션 유효성 &amp; 차별성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>
                <a:solidFill>
                  <a:srgbClr val="171A2B"/>
                </a:solidFill>
                <a:latin typeface="맑은 고딕"/>
                <a:ea typeface="맑은 고딕"/>
              </a:rPr>
              <a:t>개발 연동 — 등록한 형상을 REST로 자유롭게 호출 (ITCEN-API)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78847" y="5029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78847" y="516636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4B5CFF"/>
                </a:solidFill>
                <a:latin typeface="맑은 고딕"/>
                <a:ea typeface="맑은 고딕"/>
              </a:rPr>
              <a:t>30점 · 5/6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One Console AI · ITCEN 신사업 공모전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1">
                <a:solidFill>
                  <a:srgbClr val="8A90A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63040"/>
            <a:ext cx="6035040" cy="3200400"/>
          </a:xfrm>
          <a:prstGeom prst="roundRect">
            <a:avLst>
              <a:gd name="adj" fmla="val 10000"/>
            </a:avLst>
          </a:prstGeom>
          <a:solidFill>
            <a:srgbClr val="12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691640"/>
            <a:ext cx="548640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7D84AD"/>
                </a:solidFill>
                <a:latin typeface="Consolas"/>
                <a:ea typeface="맑은 고딕"/>
              </a:rPr>
              <a:t># 1) 형상 가져오기</a:t>
            </a:r>
          </a:p>
          <a:p>
            <a:pPr algn="l">
              <a:lnSpc>
                <a:spcPct val="114000"/>
              </a:lnSpc>
            </a:pPr>
            <a:r>
              <a:rPr sz="1150" b="0">
                <a:solidFill>
                  <a:srgbClr val="7EE2B8"/>
                </a:solidFill>
                <a:latin typeface="Consolas"/>
                <a:ea typeface="맑은 고딕"/>
              </a:rPr>
              <a:t>GET  /agent/prompt/{bot_type}</a:t>
            </a:r>
          </a:p>
          <a:p>
            <a:pPr algn="l">
              <a:lnSpc>
                <a:spcPct val="114000"/>
              </a:lnSpc>
            </a:pPr>
            <a:r>
              <a:rPr sz="1150" b="0">
                <a:solidFill>
                  <a:srgbClr val="7EE2B8"/>
                </a:solidFill>
                <a:latin typeface="Consolas"/>
                <a:ea typeface="맑은 고딕"/>
              </a:rPr>
              <a:t>GET  /agent/ragaas-config/{bot_type}</a:t>
            </a:r>
          </a:p>
          <a:p>
            <a:pPr algn="l">
              <a:lnSpc>
                <a:spcPct val="114000"/>
              </a:lnSpc>
            </a:pPr>
            <a:r>
              <a:rPr sz="1150" b="0">
                <a:solidFill>
                  <a:srgbClr val="FFFFFF"/>
                </a:solidFill>
                <a:latin typeface="Consolas"/>
                <a:ea typeface="맑은 고딕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150" b="0">
                <a:solidFill>
                  <a:srgbClr val="7D84AD"/>
                </a:solidFill>
                <a:latin typeface="Consolas"/>
                <a:ea typeface="맑은 고딕"/>
              </a:rPr>
              <a:t># 2) 대화 호출 — 형상(Prompt+검색설정) 자동 적용</a:t>
            </a:r>
          </a:p>
          <a:p>
            <a:pPr algn="l">
              <a:lnSpc>
                <a:spcPct val="114000"/>
              </a:lnSpc>
            </a:pPr>
            <a:r>
              <a:rPr sz="1150" b="0">
                <a:solidFill>
                  <a:srgbClr val="FFD479"/>
                </a:solidFill>
                <a:latin typeface="Consolas"/>
                <a:ea typeface="맑은 고딕"/>
              </a:rPr>
              <a:t>POST /agent/chat</a:t>
            </a:r>
          </a:p>
          <a:p>
            <a:pPr algn="l">
              <a:lnSpc>
                <a:spcPct val="114000"/>
              </a:lnSpc>
            </a:pPr>
            <a:r>
              <a:rPr sz="1150" b="0">
                <a:solidFill>
                  <a:srgbClr val="FFFFFF"/>
                </a:solidFill>
                <a:latin typeface="Consolas"/>
                <a:ea typeface="맑은 고딕"/>
              </a:rPr>
              <a:t>     {"bot_type":"hr-assistant",</a:t>
            </a:r>
          </a:p>
          <a:p>
            <a:pPr algn="l">
              <a:lnSpc>
                <a:spcPct val="114000"/>
              </a:lnSpc>
            </a:pPr>
            <a:r>
              <a:rPr sz="1150" b="0">
                <a:solidFill>
                  <a:srgbClr val="FFFFFF"/>
                </a:solidFill>
                <a:latin typeface="Consolas"/>
                <a:ea typeface="맑은 고딕"/>
              </a:rPr>
              <a:t>      "message":"육아휴직은 최대 얼마나?"}</a:t>
            </a:r>
          </a:p>
          <a:p>
            <a:pPr algn="l">
              <a:lnSpc>
                <a:spcPct val="114000"/>
              </a:lnSpc>
            </a:pPr>
            <a:r>
              <a:rPr sz="1150" b="0">
                <a:solidFill>
                  <a:srgbClr val="FFFFFF"/>
                </a:solidFill>
                <a:latin typeface="Consolas"/>
                <a:ea typeface="맑은 고딕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150" b="0">
                <a:solidFill>
                  <a:srgbClr val="7D84AD"/>
                </a:solidFill>
                <a:latin typeface="Consolas"/>
                <a:ea typeface="맑은 고딕"/>
              </a:rPr>
              <a:t># 3) 피드백 회귀 — 운영 신호의 시작점</a:t>
            </a:r>
          </a:p>
          <a:p>
            <a:pPr algn="l">
              <a:lnSpc>
                <a:spcPct val="114000"/>
              </a:lnSpc>
            </a:pPr>
            <a:r>
              <a:rPr sz="1150" b="0">
                <a:solidFill>
                  <a:srgbClr val="FFD479"/>
                </a:solidFill>
                <a:latin typeface="Consolas"/>
                <a:ea typeface="맑은 고딕"/>
              </a:rPr>
              <a:t>POST /agent/feedback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0568" y="1463040"/>
            <a:ext cx="4791456" cy="320040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9168" y="1645920"/>
            <a:ext cx="438912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300" b="1">
                <a:solidFill>
                  <a:srgbClr val="171A2B"/>
                </a:solidFill>
                <a:latin typeface="맑은 고딕"/>
                <a:ea typeface="맑은 고딕"/>
              </a:rPr>
              <a:t>개발팀 관점의 가치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·  Swagger UI로 스키마 확인·테스트 호출 즉시 가능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·  프롬프트 하드코딩 제거 — 배포 없이 형상만 교체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·  근거 문서·유사도 점수·로그 ID가 응답에 포함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·  출처 인용 강제 시 근거 없으면 ‘정보 없음’ 반환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·  PII 마스킹 등 보안 정책을 API 레벨에서 일괄 적용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892040"/>
            <a:ext cx="11057839" cy="1051560"/>
          </a:xfrm>
          <a:prstGeom prst="roundRect">
            <a:avLst>
              <a:gd name="adj" fmla="val 10000"/>
            </a:avLst>
          </a:prstGeom>
          <a:solidFill>
            <a:srgbClr val="E3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5056632"/>
            <a:ext cx="1041775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>
                <a:solidFill>
                  <a:srgbClr val="12B886"/>
                </a:solidFill>
                <a:latin typeface="맑은 고딕"/>
                <a:ea typeface="맑은 고딕"/>
              </a:rPr>
              <a:t>✓  이미 동작하는 MVP  </a:t>
            </a:r>
            <a:r>
              <a:rPr sz="1200" b="1">
                <a:solidFill>
                  <a:srgbClr val="171A2B"/>
                </a:solidFill>
                <a:latin typeface="맑은 고딕"/>
                <a:ea typeface="맑은 고딕"/>
              </a:rPr>
              <a:t>관리 콘솔(8개 화면) + ITCEN-API 19개 엔드포인트 + RAG 파이프라인 + 운영 대시보드 구현 완료 · 현장 시연 가능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발표 당일, 슬라이드가 아닌 실제 제품으로 데모합니다.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4B5CFF"/>
                </a:solidFill>
                <a:latin typeface="맑은 고딕"/>
                <a:ea typeface="맑은 고딕"/>
              </a:rPr>
              <a:t>솔루션 유효성 &amp; 차별성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>
                <a:solidFill>
                  <a:srgbClr val="171A2B"/>
                </a:solidFill>
                <a:latin typeface="맑은 고딕"/>
                <a:ea typeface="맑은 고딕"/>
              </a:rPr>
              <a:t>차별성 — 기존 대안과 무엇이 다른가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78847" y="5029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78847" y="516636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4B5CFF"/>
                </a:solidFill>
                <a:latin typeface="맑은 고딕"/>
                <a:ea typeface="맑은 고딕"/>
              </a:rPr>
              <a:t>30점 · 6/6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One Console AI · ITCEN 신사업 공모전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1">
                <a:solidFill>
                  <a:srgbClr val="8A90A8"/>
                </a:solidFill>
                <a:latin typeface="맑은 고딕"/>
                <a:ea typeface="맑은 고딕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63040"/>
          <a:ext cx="1105509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3017520"/>
                <a:gridCol w="3465576"/>
              </a:tblGrid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121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개별 프로젝트 구축</a:t>
                      </a:r>
                    </a:p>
                  </a:txBody>
                  <a:tcPr anchor="ctr">
                    <a:solidFill>
                      <a:srgbClr val="121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범용 LLMOps SaaS(해외)</a:t>
                      </a:r>
                    </a:p>
                  </a:txBody>
                  <a:tcPr anchor="ctr">
                    <a:solidFill>
                      <a:srgbClr val="121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One Console AI</a:t>
                      </a:r>
                    </a:p>
                  </a:txBody>
                  <a:tcPr anchor="ctr">
                    <a:solidFill>
                      <a:srgbClr val="4B5C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71A2B"/>
                          </a:solidFill>
                          <a:latin typeface="맑은 고딕"/>
                          <a:ea typeface="맑은 고딕"/>
                        </a:rPr>
                        <a:t>지식 파이프라인</a:t>
                      </a:r>
                    </a:p>
                  </a:txBody>
                  <a:tcPr anchor="ctr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A4F66"/>
                          </a:solidFill>
                          <a:latin typeface="맑은 고딕"/>
                          <a:ea typeface="맑은 고딕"/>
                        </a:rPr>
                        <a:t>매번 재개발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A4F66"/>
                          </a:solidFill>
                          <a:latin typeface="맑은 고딕"/>
                          <a:ea typeface="맑은 고딕"/>
                        </a:rPr>
                        <a:t>문서 전처리는 별도 구축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B5CFF"/>
                          </a:solidFill>
                          <a:latin typeface="맑은 고딕"/>
                          <a:ea typeface="맑은 고딕"/>
                        </a:rPr>
                        <a:t>한국어 사내문서 특화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B5CFF"/>
                          </a:solidFill>
                          <a:latin typeface="맑은 고딕"/>
                          <a:ea typeface="맑은 고딕"/>
                        </a:rPr>
                        <a:t>추출→가공→적재 내장</a:t>
                      </a:r>
                    </a:p>
                  </a:txBody>
                  <a:tcPr anchor="ctr">
                    <a:solidFill>
                      <a:srgbClr val="E9ED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71A2B"/>
                          </a:solidFill>
                          <a:latin typeface="맑은 고딕"/>
                          <a:ea typeface="맑은 고딕"/>
                        </a:rPr>
                        <a:t>형상관리</a:t>
                      </a:r>
                    </a:p>
                  </a:txBody>
                  <a:tcPr anchor="ctr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A4F66"/>
                          </a:solidFill>
                          <a:latin typeface="맑은 고딕"/>
                          <a:ea typeface="맑은 고딕"/>
                        </a:rPr>
                        <a:t>코드·위키에 산재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A4F66"/>
                          </a:solidFill>
                          <a:latin typeface="맑은 고딕"/>
                          <a:ea typeface="맑은 고딕"/>
                        </a:rPr>
                        <a:t>프롬프트 중심 일부 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B5CFF"/>
                          </a:solidFill>
                          <a:latin typeface="맑은 고딕"/>
                          <a:ea typeface="맑은 고딕"/>
                        </a:rPr>
                        <a:t>bot_type 단일 키로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B5CFF"/>
                          </a:solidFill>
                          <a:latin typeface="맑은 고딕"/>
                          <a:ea typeface="맑은 고딕"/>
                        </a:rPr>
                        <a:t>Prompt+검색설정 통합</a:t>
                      </a:r>
                    </a:p>
                  </a:txBody>
                  <a:tcPr anchor="ctr">
                    <a:solidFill>
                      <a:srgbClr val="E9ED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71A2B"/>
                          </a:solidFill>
                          <a:latin typeface="맑은 고딕"/>
                          <a:ea typeface="맑은 고딕"/>
                        </a:rPr>
                        <a:t>운영→개선 루프</a:t>
                      </a:r>
                    </a:p>
                  </a:txBody>
                  <a:tcPr anchor="ctr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A4F66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A4F66"/>
                          </a:solidFill>
                          <a:latin typeface="맑은 고딕"/>
                          <a:ea typeface="맑은 고딕"/>
                        </a:rPr>
                        <a:t>로깅 중심, 개선은 수동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B5CFF"/>
                          </a:solidFill>
                          <a:latin typeface="맑은 고딕"/>
                          <a:ea typeface="맑은 고딕"/>
                        </a:rPr>
                        <a:t>피드백 회귀→개선 큐→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B5CFF"/>
                          </a:solidFill>
                          <a:latin typeface="맑은 고딕"/>
                          <a:ea typeface="맑은 고딕"/>
                        </a:rPr>
                        <a:t>새 버전 배포 폐쇄 루프</a:t>
                      </a:r>
                    </a:p>
                  </a:txBody>
                  <a:tcPr anchor="ctr">
                    <a:solidFill>
                      <a:srgbClr val="E9ED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71A2B"/>
                          </a:solidFill>
                          <a:latin typeface="맑은 고딕"/>
                          <a:ea typeface="맑은 고딕"/>
                        </a:rPr>
                        <a:t>도입 형태</a:t>
                      </a:r>
                    </a:p>
                  </a:txBody>
                  <a:tcPr anchor="ctr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A4F66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A4F66"/>
                          </a:solidFill>
                          <a:latin typeface="맑은 고딕"/>
                          <a:ea typeface="맑은 고딕"/>
                        </a:rPr>
                        <a:t>퍼블릭 SaaS 위주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B5CFF"/>
                          </a:solidFill>
                          <a:latin typeface="맑은 고딕"/>
                          <a:ea typeface="맑은 고딕"/>
                        </a:rPr>
                        <a:t>구축형(On-prem)+구독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B5CFF"/>
                          </a:solidFill>
                          <a:latin typeface="맑은 고딕"/>
                          <a:ea typeface="맑은 고딕"/>
                        </a:rPr>
                        <a:t>공공·금융 보안 요건 충족</a:t>
                      </a:r>
                    </a:p>
                  </a:txBody>
                  <a:tcPr anchor="ctr">
                    <a:solidFill>
                      <a:srgbClr val="E9ED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71A2B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</a:p>
                  </a:txBody>
                  <a:tcPr anchor="ctr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A4F66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A4F66"/>
                          </a:solidFill>
                          <a:latin typeface="맑은 고딕"/>
                          <a:ea typeface="맑은 고딕"/>
                        </a:rPr>
                        <a:t>국내 레퍼런스 제한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B5CFF"/>
                          </a:solidFill>
                          <a:latin typeface="맑은 고딕"/>
                          <a:ea typeface="맑은 고딕"/>
                        </a:rPr>
                        <a:t>대기업 현장 운영으로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4B5CFF"/>
                          </a:solidFill>
                          <a:latin typeface="맑은 고딕"/>
                          <a:ea typeface="맑은 고딕"/>
                        </a:rPr>
                        <a:t>실효성 검증된 모델</a:t>
                      </a:r>
                    </a:p>
                  </a:txBody>
                  <a:tcPr anchor="ctr">
                    <a:solidFill>
                      <a:srgbClr val="E9ED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58521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200" b="1">
                <a:solidFill>
                  <a:srgbClr val="171A2B"/>
                </a:solidFill>
                <a:latin typeface="맑은 고딕"/>
                <a:ea typeface="맑은 고딕"/>
              </a:rPr>
              <a:t>핵심 차별점: ‘만드는 도구’가 아니라 ‘운영하며 좋아지게 만드는 체계’ — 그리고 그 체계가 이미 현장에서 돌아가고 있다는 것.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4B5CFF"/>
                </a:solidFill>
                <a:latin typeface="맑은 고딕"/>
                <a:ea typeface="맑은 고딕"/>
              </a:rPr>
              <a:t>솔루션 유효성 &amp; 차별성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>
                <a:solidFill>
                  <a:srgbClr val="171A2B"/>
                </a:solidFill>
                <a:latin typeface="맑은 고딕"/>
                <a:ea typeface="맑은 고딕"/>
              </a:rPr>
              <a:t>아이티센과의 연계 — 그룹 역량이 곧 GTM이 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One Console AI · ITCEN 신사업 공모전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1">
                <a:solidFill>
                  <a:srgbClr val="8A90A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5440680" cy="19659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82296" cy="1965960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4592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4B5CFF"/>
                </a:solidFill>
                <a:latin typeface="맑은 고딕"/>
                <a:ea typeface="맑은 고딕"/>
              </a:rPr>
              <a:t>SI 수행력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공공·금융·엔터프라이즈 구축 경험 → 구축형(On-prem) 딜리버리를 즉시 소화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9260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939796"/>
            <a:ext cx="23774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4B5CFF"/>
                </a:solidFill>
                <a:latin typeface="맑은 고딕"/>
                <a:ea typeface="맑은 고딕"/>
              </a:rPr>
              <a:t>플랫폼 + 구축 서비스 패키지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63040"/>
            <a:ext cx="5440680" cy="19659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0488" y="1463040"/>
            <a:ext cx="82296" cy="1965960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64592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12B886"/>
                </a:solidFill>
                <a:latin typeface="맑은 고딕"/>
                <a:ea typeface="맑은 고딕"/>
              </a:rPr>
              <a:t>고객 기반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그룹이 보유한 공공·금융·대기업 고객망 → 초기 파일럿·레퍼런스 확보 경로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4808" y="29260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939796"/>
            <a:ext cx="23774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12B886"/>
                </a:solidFill>
                <a:latin typeface="맑은 고딕"/>
                <a:ea typeface="맑은 고딕"/>
              </a:rPr>
              <a:t>기존 계약에 Add-on 제안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584448"/>
            <a:ext cx="5440680" cy="19659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584448"/>
            <a:ext cx="82296" cy="1965960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767328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8B7CFF"/>
                </a:solidFill>
                <a:latin typeface="맑은 고딕"/>
                <a:ea typeface="맑은 고딕"/>
              </a:rPr>
              <a:t>클라우드·인프라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그룹 클라우드 역량과 결합 → 매니지드 서비스(MSP)로 운영 매출 창출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04748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061204"/>
            <a:ext cx="23774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8B7CFF"/>
                </a:solidFill>
                <a:latin typeface="맑은 고딕"/>
                <a:ea typeface="맑은 고딕"/>
              </a:rPr>
              <a:t>구독 + 운영 반복 매출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584448"/>
            <a:ext cx="5440680" cy="19659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90488" y="3584448"/>
            <a:ext cx="82296" cy="1965960"/>
          </a:xfrm>
          <a:prstGeom prst="roundRect">
            <a:avLst>
              <a:gd name="adj" fmla="val 50000"/>
            </a:avLst>
          </a:prstGeom>
          <a:solidFill>
            <a:srgbClr val="F5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767328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>
                <a:solidFill>
                  <a:srgbClr val="F59F00"/>
                </a:solidFill>
                <a:latin typeface="맑은 고딕"/>
                <a:ea typeface="맑은 고딕"/>
              </a:rPr>
              <a:t>AI 사업 표준화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4A4F66"/>
                </a:solidFill>
                <a:latin typeface="맑은 고딕"/>
                <a:ea typeface="맑은 고딕"/>
              </a:rPr>
              <a:t>그룹 내 모든 AI 프로젝트의 공통 기반으로 채택 → 수행 원가 절감·품질 상향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64808" y="504748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5061204"/>
            <a:ext cx="23774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59F00"/>
                </a:solidFill>
                <a:latin typeface="맑은 고딕"/>
                <a:ea typeface="맑은 고딕"/>
              </a:rPr>
              <a:t>내부 효율 + 외부 판매 겸용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806440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250" b="1">
                <a:solidFill>
                  <a:srgbClr val="171A2B"/>
                </a:solidFill>
                <a:latin typeface="맑은 고딕"/>
                <a:ea typeface="맑은 고딕"/>
              </a:rPr>
              <a:t>“남의 기술을 파는 사업’이 아니라, 우리가 매일 하는 일(SI·운영)을 반복 매출 구조로 바꾸는 사업입니다.”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12B886"/>
                </a:solidFill>
                <a:latin typeface="맑은 고딕"/>
                <a:ea typeface="맑은 고딕"/>
              </a:rPr>
              <a:t>사업화 가능성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>
                <a:solidFill>
                  <a:srgbClr val="171A2B"/>
                </a:solidFill>
                <a:latin typeface="맑은 고딕"/>
                <a:ea typeface="맑은 고딕"/>
              </a:rPr>
              <a:t>시장 — 커지는 판, 비어 있는 자리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78847" y="5029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78847" y="516636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4B5CFF"/>
                </a:solidFill>
                <a:latin typeface="맑은 고딕"/>
                <a:ea typeface="맑은 고딕"/>
              </a:rPr>
              <a:t>20점 · 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One Console AI · ITCEN 신사업 공모전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1">
                <a:solidFill>
                  <a:srgbClr val="8A90A8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6304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609344"/>
            <a:ext cx="316382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2400" b="1">
                <a:solidFill>
                  <a:srgbClr val="4B5CFF"/>
                </a:solidFill>
                <a:latin typeface="맑은 고딕"/>
                <a:ea typeface="맑은 고딕"/>
              </a:rPr>
              <a:t>TAM  ~3조 원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50" b="1">
                <a:solidFill>
                  <a:srgbClr val="171A2B"/>
                </a:solidFill>
                <a:latin typeface="맑은 고딕"/>
                <a:ea typeface="맑은 고딕"/>
              </a:rPr>
              <a:t>국내 기업용 생성형 AI SW·서비스 (2027E)</a:t>
            </a:r>
          </a:p>
          <a:p>
            <a:pPr algn="l">
              <a:lnSpc>
                <a:spcPct val="114000"/>
              </a:lnSpc>
            </a:pPr>
            <a:r>
              <a:rPr sz="950" b="0">
                <a:solidFill>
                  <a:srgbClr val="4A4F66"/>
                </a:solidFill>
                <a:latin typeface="맑은 고딕"/>
                <a:ea typeface="맑은 고딕"/>
              </a:rPr>
              <a:t>전 산업의 생성형 AI 도입 가속 — 두 자릿수 연 성장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7" y="146304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E3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5" y="1609344"/>
            <a:ext cx="316382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2400" b="1">
                <a:solidFill>
                  <a:srgbClr val="12B886"/>
                </a:solidFill>
                <a:latin typeface="맑은 고딕"/>
                <a:ea typeface="맑은 고딕"/>
              </a:rPr>
              <a:t>SAM  ~3,000억 원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50" b="1">
                <a:solidFill>
                  <a:srgbClr val="171A2B"/>
                </a:solidFill>
                <a:latin typeface="맑은 고딕"/>
                <a:ea typeface="맑은 고딕"/>
              </a:rPr>
              <a:t>국내 LLMOps / AgentOps 플랫폼·구축</a:t>
            </a:r>
          </a:p>
          <a:p>
            <a:pPr algn="l">
              <a:lnSpc>
                <a:spcPct val="114000"/>
              </a:lnSpc>
            </a:pPr>
            <a:r>
              <a:rPr sz="950" b="0">
                <a:solidFill>
                  <a:srgbClr val="4A4F66"/>
                </a:solidFill>
                <a:latin typeface="맑은 고딕"/>
                <a:ea typeface="맑은 고딕"/>
              </a:rPr>
              <a:t>Agent 운영 체계 수요 — 공공·금융 구축형 비중 높음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146304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609344"/>
            <a:ext cx="316382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2400" b="1">
                <a:solidFill>
                  <a:srgbClr val="F59F00"/>
                </a:solidFill>
                <a:latin typeface="맑은 고딕"/>
                <a:ea typeface="맑은 고딕"/>
              </a:rPr>
              <a:t>SOM  ~50억 원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50" b="1">
                <a:solidFill>
                  <a:srgbClr val="171A2B"/>
                </a:solidFill>
                <a:latin typeface="맑은 고딕"/>
                <a:ea typeface="맑은 고딕"/>
              </a:rPr>
              <a:t>3년 내 목표 매출 (고객 20~30사)</a:t>
            </a:r>
          </a:p>
          <a:p>
            <a:pPr algn="l">
              <a:lnSpc>
                <a:spcPct val="114000"/>
              </a:lnSpc>
            </a:pPr>
            <a:r>
              <a:rPr sz="950" b="0">
                <a:solidFill>
                  <a:srgbClr val="4A4F66"/>
                </a:solidFill>
                <a:latin typeface="맑은 고딕"/>
                <a:ea typeface="맑은 고딕"/>
              </a:rPr>
              <a:t>그룹 고객망 기반 현실적 초기 목표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94760"/>
            <a:ext cx="11057839" cy="201168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977639"/>
            <a:ext cx="10509199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350" b="1">
                <a:solidFill>
                  <a:srgbClr val="171A2B"/>
                </a:solidFill>
                <a:latin typeface="맑은 고딕"/>
                <a:ea typeface="맑은 고딕"/>
              </a:rPr>
              <a:t>왜 지금, 왜 우리가 이길 수 있는 자리인가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50" b="0">
                <a:solidFill>
                  <a:srgbClr val="4A4F66"/>
                </a:solidFill>
                <a:latin typeface="맑은 고딕"/>
                <a:ea typeface="맑은 고딕"/>
              </a:rPr>
              <a:t>·  타이밍: PoC 예산이 운영 예산으로 전환되는 변곡점 — 운영 플랫폼 구매가 시작되는 시기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50" b="0">
                <a:solidFill>
                  <a:srgbClr val="4A4F66"/>
                </a:solidFill>
                <a:latin typeface="맑은 고딕"/>
                <a:ea typeface="맑은 고딕"/>
              </a:rPr>
              <a:t>·  공백: 해외 SaaS는 한국어 문서 파이프라인·On-prem·공공 보안 요건에 취약</a:t>
            </a:r>
          </a:p>
          <a:p>
            <a:pPr algn="l">
              <a:lnSpc>
                <a:spcPct val="114000"/>
              </a:lnSpc>
            </a:pPr>
            <a:r>
              <a:rPr sz="1150" b="0">
                <a:solidFill>
                  <a:srgbClr val="4A4F66"/>
                </a:solidFill>
                <a:latin typeface="맑은 고딕"/>
                <a:ea typeface="맑은 고딕"/>
              </a:rPr>
              <a:t>·  자격: 구축형을 소화할 SI 역량 + 초기 레퍼런스를 만들 고객망을 동시에 가진 사업자는 드묾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9436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※ 시장 규모는 공개 시장조사·수행 경험 기반 추정치 (상세 산출 근거 별첨 가능)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12B886"/>
                </a:solidFill>
                <a:latin typeface="맑은 고딕"/>
                <a:ea typeface="맑은 고딕"/>
              </a:rPr>
              <a:t>사업화 가능성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>
                <a:solidFill>
                  <a:srgbClr val="171A2B"/>
                </a:solidFill>
                <a:latin typeface="맑은 고딕"/>
                <a:ea typeface="맑은 고딕"/>
              </a:rPr>
              <a:t>수익 모델 — 구축으로 열고, 구독·운영으로 쌓는다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78847" y="5029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78847" y="516636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4B5CFF"/>
                </a:solidFill>
                <a:latin typeface="맑은 고딕"/>
                <a:ea typeface="맑은 고딕"/>
              </a:rPr>
              <a:t>20점 · 2/3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One Console AI · ITCEN 신사업 공모전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1">
                <a:solidFill>
                  <a:srgbClr val="8A90A8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63040"/>
            <a:ext cx="3566160" cy="329184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63040"/>
            <a:ext cx="3566160" cy="512064"/>
          </a:xfrm>
          <a:prstGeom prst="roundRect">
            <a:avLst>
              <a:gd name="adj" fmla="val 1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08760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① 구축 (SI)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0312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500" b="1">
                <a:solidFill>
                  <a:srgbClr val="4B5CFF"/>
                </a:solidFill>
                <a:latin typeface="맑은 고딕"/>
                <a:ea typeface="맑은 고딕"/>
              </a:rPr>
              <a:t>1~3억 원 / 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9748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4A4F66"/>
                </a:solidFill>
                <a:latin typeface="맑은 고딕"/>
                <a:ea typeface="맑은 고딕"/>
              </a:rPr>
              <a:t>·  플랫폼 설치 + 지식 파이프라인 초기 구축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36499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4A4F66"/>
                </a:solidFill>
                <a:latin typeface="맑은 고딕"/>
                <a:ea typeface="맑은 고딕"/>
              </a:rPr>
              <a:t>·  기존 시스템·SSO·보안 연동 커스터마이징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032504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4A4F66"/>
                </a:solidFill>
                <a:latin typeface="맑은 고딕"/>
                <a:ea typeface="맑은 고딕"/>
              </a:rPr>
              <a:t>·  아이티센 본업과 동일한 딜리버리 구조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7" y="1463040"/>
            <a:ext cx="3566160" cy="329184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15967" y="1463040"/>
            <a:ext cx="3566160" cy="512064"/>
          </a:xfrm>
          <a:prstGeom prst="roundRect">
            <a:avLst>
              <a:gd name="adj" fmla="val 10000"/>
            </a:avLst>
          </a:prstGeom>
          <a:solidFill>
            <a:srgbClr val="12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7" y="1508760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② 구독 (라이선스)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7" y="210312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500" b="1">
                <a:solidFill>
                  <a:srgbClr val="12B886"/>
                </a:solidFill>
                <a:latin typeface="맑은 고딕"/>
                <a:ea typeface="맑은 고딕"/>
              </a:rPr>
              <a:t>월 300만~1,000만 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5" y="269748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4A4F66"/>
                </a:solidFill>
                <a:latin typeface="맑은 고딕"/>
                <a:ea typeface="맑은 고딕"/>
              </a:rPr>
              <a:t>·  Agent 수·사용량 기반 티어 (Std/Ent)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5" y="336499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4A4F66"/>
                </a:solidFill>
                <a:latin typeface="맑은 고딕"/>
                <a:ea typeface="맑은 고딕"/>
              </a:rPr>
              <a:t>·  콘솔 + ITCEN-API + 업데이트 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5" y="4032504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4A4F66"/>
                </a:solidFill>
                <a:latin typeface="맑은 고딕"/>
                <a:ea typeface="맑은 고딕"/>
              </a:rPr>
              <a:t>·  핵심 반복 매출 — 해지 장벽 높음(형상 축적)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6" y="1463040"/>
            <a:ext cx="3566160" cy="329184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65006" y="1463040"/>
            <a:ext cx="3566160" cy="512064"/>
          </a:xfrm>
          <a:prstGeom prst="roundRect">
            <a:avLst>
              <a:gd name="adj" fmla="val 10000"/>
            </a:avLst>
          </a:prstGeom>
          <a:solidFill>
            <a:srgbClr val="F5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6" y="1508760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③ 운영 (MSP)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6" y="210312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500" b="1">
                <a:solidFill>
                  <a:srgbClr val="F59F00"/>
                </a:solidFill>
                <a:latin typeface="맑은 고딕"/>
                <a:ea typeface="맑은 고딕"/>
              </a:rPr>
              <a:t>월 500만 원~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4" y="269748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4A4F66"/>
                </a:solidFill>
                <a:latin typeface="맑은 고딕"/>
                <a:ea typeface="맑은 고딕"/>
              </a:rPr>
              <a:t>·  운영 모니터링·개선 리포트 대행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4" y="336499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4A4F66"/>
                </a:solidFill>
                <a:latin typeface="맑은 고딕"/>
                <a:ea typeface="맑은 고딕"/>
              </a:rPr>
              <a:t>·  프롬프트·검색 정책 튜닝 서비스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4" y="4032504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4A4F66"/>
                </a:solidFill>
                <a:latin typeface="맑은 고딕"/>
                <a:ea typeface="맑은 고딕"/>
              </a:rPr>
              <a:t>·  그룹 클라우드 MSP 조직과 결합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029200"/>
            <a:ext cx="11057839" cy="960120"/>
          </a:xfrm>
          <a:prstGeom prst="roundRect">
            <a:avLst>
              <a:gd name="adj" fmla="val 10000"/>
            </a:avLst>
          </a:prstGeom>
          <a:solidFill>
            <a:srgbClr val="12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5193792"/>
            <a:ext cx="1041775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수익 구조의 핵심  </a:t>
            </a:r>
            <a:r>
              <a:rPr sz="1200" b="0">
                <a:solidFill>
                  <a:srgbClr val="C7C9EC"/>
                </a:solidFill>
                <a:latin typeface="맑은 고딕"/>
                <a:ea typeface="맑은 고딕"/>
              </a:rPr>
              <a:t>고객이 플랫폼에 지식과 형상을 쌓을수록 전환 비용이 커진다 — 1회성 SI가 3~5년 락인되는 구독·운영 매출로 바뀝니다.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10819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※ 가격은 예시 — 파일럿을 통해 지불의사 검증 후 확정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12B886"/>
                </a:solidFill>
                <a:latin typeface="맑은 고딕"/>
                <a:ea typeface="맑은 고딕"/>
              </a:rPr>
              <a:t>사업화 가능성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>
                <a:solidFill>
                  <a:srgbClr val="171A2B"/>
                </a:solidFill>
                <a:latin typeface="맑은 고딕"/>
                <a:ea typeface="맑은 고딕"/>
              </a:rPr>
              <a:t>사업화 로드맵 — 완벽한 계획보다, 실행 가능한 첫걸음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78847" y="5029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78847" y="516636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4B5CFF"/>
                </a:solidFill>
                <a:latin typeface="맑은 고딕"/>
                <a:ea typeface="맑은 고딕"/>
              </a:rPr>
              <a:t>20점 · 3/3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One Console AI · ITCEN 신사업 공모전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1">
                <a:solidFill>
                  <a:srgbClr val="8A90A8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54480"/>
            <a:ext cx="2633472" cy="35661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554480"/>
            <a:ext cx="2633472" cy="128016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2880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>
                <a:solidFill>
                  <a:srgbClr val="171A2B"/>
                </a:solidFill>
                <a:latin typeface="맑은 고딕"/>
                <a:ea typeface="맑은 고딕"/>
              </a:rPr>
              <a:t>Phase 0 · 현재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2128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226564"/>
            <a:ext cx="13716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12B886"/>
                </a:solidFill>
                <a:latin typeface="맑은 고딕"/>
                <a:ea typeface="맑은 고딕"/>
              </a:rPr>
              <a:t>검증 완료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697480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4A4F66"/>
                </a:solidFill>
                <a:latin typeface="맑은 고딕"/>
                <a:ea typeface="맑은 고딕"/>
              </a:rPr>
              <a:t>·  MVP 구현 완료 (콘솔+API+파이프라인)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447288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4A4F66"/>
                </a:solidFill>
                <a:latin typeface="맑은 고딕"/>
                <a:ea typeface="맑은 고딕"/>
              </a:rPr>
              <a:t>·  대기업 현장에서 운영 모델 실효성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01752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>
                <a:solidFill>
                  <a:srgbClr val="8A90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74136" y="1554480"/>
            <a:ext cx="2633472" cy="35661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74136" y="1554480"/>
            <a:ext cx="2633472" cy="128016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57016" y="182880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>
                <a:solidFill>
                  <a:srgbClr val="171A2B"/>
                </a:solidFill>
                <a:latin typeface="맑은 고딕"/>
                <a:ea typeface="맑은 고딕"/>
              </a:rPr>
              <a:t>Phase 1 · ~6개월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6" y="22128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7016" y="2226564"/>
            <a:ext cx="13716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4B5CFF"/>
                </a:solidFill>
                <a:latin typeface="맑은 고딕"/>
                <a:ea typeface="맑은 고딕"/>
              </a:rPr>
              <a:t>파일럿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7016" y="2697480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4A4F66"/>
                </a:solidFill>
                <a:latin typeface="맑은 고딕"/>
                <a:ea typeface="맑은 고딕"/>
              </a:rPr>
              <a:t>·  그룹 고객 중 1~2사 파일럿 (유상 PoC)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016" y="3447288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4A4F66"/>
                </a:solidFill>
                <a:latin typeface="맑은 고딕"/>
                <a:ea typeface="맑은 고딕"/>
              </a:rPr>
              <a:t>·  보안·권한·감사로그 등 엔터프라이즈 요건 보강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6" y="4197096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4A4F66"/>
                </a:solidFill>
                <a:latin typeface="맑은 고딕"/>
                <a:ea typeface="맑은 고딕"/>
              </a:rPr>
              <a:t>·  지불의사·가격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7608" y="301752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>
                <a:solidFill>
                  <a:srgbClr val="8A90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1554480"/>
            <a:ext cx="2633472" cy="35661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81344" y="1554480"/>
            <a:ext cx="2633472" cy="128016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2880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>
                <a:solidFill>
                  <a:srgbClr val="171A2B"/>
                </a:solidFill>
                <a:latin typeface="맑은 고딕"/>
                <a:ea typeface="맑은 고딕"/>
              </a:rPr>
              <a:t>Phase 2 · ~18개월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64224" y="22128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2226564"/>
            <a:ext cx="13716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8B7CFF"/>
                </a:solidFill>
                <a:latin typeface="맑은 고딕"/>
                <a:ea typeface="맑은 고딕"/>
              </a:rPr>
              <a:t>제품화 v1.0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2697480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4A4F66"/>
                </a:solidFill>
                <a:latin typeface="맑은 고딕"/>
                <a:ea typeface="맑은 고딕"/>
              </a:rPr>
              <a:t>·  멀티테넌트·과금·설치형 패키징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3447288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4A4F66"/>
                </a:solidFill>
                <a:latin typeface="맑은 고딕"/>
                <a:ea typeface="맑은 고딕"/>
              </a:rPr>
              <a:t>·  공공·금융 레퍼런스 2~3건 확보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4197096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4A4F66"/>
                </a:solidFill>
                <a:latin typeface="맑은 고딕"/>
                <a:ea typeface="맑은 고딕"/>
              </a:rPr>
              <a:t>·  그룹 AI 프로젝트 표준 기반으로 채택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14816" y="301752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>
                <a:solidFill>
                  <a:srgbClr val="8A90A8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8552" y="1554480"/>
            <a:ext cx="2633472" cy="35661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88552" y="1554480"/>
            <a:ext cx="2633472" cy="128016"/>
          </a:xfrm>
          <a:prstGeom prst="roundRect">
            <a:avLst>
              <a:gd name="adj" fmla="val 50000"/>
            </a:avLst>
          </a:prstGeom>
          <a:solidFill>
            <a:srgbClr val="F5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71432" y="182880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>
                <a:solidFill>
                  <a:srgbClr val="171A2B"/>
                </a:solidFill>
                <a:latin typeface="맑은 고딕"/>
                <a:ea typeface="맑은 고딕"/>
              </a:rPr>
              <a:t>Phase 3 · 18개월~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71432" y="22128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71432" y="2226564"/>
            <a:ext cx="13716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59F00"/>
                </a:solidFill>
                <a:latin typeface="맑은 고딕"/>
                <a:ea typeface="맑은 고딕"/>
              </a:rPr>
              <a:t>확장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1432" y="2697480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4A4F66"/>
                </a:solidFill>
                <a:latin typeface="맑은 고딕"/>
                <a:ea typeface="맑은 고딕"/>
              </a:rPr>
              <a:t>·  산업별 템플릿 (공공민원·금융상담·제조설비)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1432" y="3447288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4A4F66"/>
                </a:solidFill>
                <a:latin typeface="맑은 고딕"/>
                <a:ea typeface="맑은 고딕"/>
              </a:rPr>
              <a:t>·  파트너 채널 판매 · MSP 운영 매출 본격화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349240"/>
            <a:ext cx="11057839" cy="777240"/>
          </a:xfrm>
          <a:prstGeom prst="roundRect">
            <a:avLst>
              <a:gd name="adj" fmla="val 1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486400"/>
            <a:ext cx="105091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>
                <a:solidFill>
                  <a:srgbClr val="4B5CFF"/>
                </a:solidFill>
                <a:latin typeface="맑은 고딕"/>
                <a:ea typeface="맑은 고딕"/>
              </a:rPr>
              <a:t>첫걸음은 이미 뗐습니다.  </a:t>
            </a:r>
            <a:r>
              <a:rPr sz="1200" b="0">
                <a:solidFill>
                  <a:srgbClr val="171A2B"/>
                </a:solidFill>
                <a:latin typeface="맑은 고딕"/>
                <a:ea typeface="맑은 고딕"/>
              </a:rPr>
              <a:t>필요한 것은 파일럿 고객 1개사와 소규모 TF — 6개월 내 유상 레퍼런스로 사업성을 증명하겠습니다.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F59F00"/>
                </a:solidFill>
                <a:latin typeface="맑은 고딕"/>
                <a:ea typeface="맑은 고딕"/>
              </a:rPr>
              <a:t>실행력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>
                <a:solidFill>
                  <a:srgbClr val="171A2B"/>
                </a:solidFill>
                <a:latin typeface="맑은 고딕"/>
                <a:ea typeface="맑은 고딕"/>
              </a:rPr>
              <a:t>실행력 — 아이디어가 아니라, 제품으로 왔습니다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78847" y="5029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9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78847" y="516636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4B5CFF"/>
                </a:solidFill>
                <a:latin typeface="맑은 고딕"/>
                <a:ea typeface="맑은 고딕"/>
              </a:rPr>
              <a:t>15점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8A90A8"/>
                </a:solidFill>
                <a:latin typeface="맑은 고딕"/>
                <a:ea typeface="맑은 고딕"/>
              </a:rPr>
              <a:t>One Console AI · ITCEN 신사업 공모전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1">
                <a:solidFill>
                  <a:srgbClr val="8A90A8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63040"/>
            <a:ext cx="5394960" cy="4023360"/>
          </a:xfrm>
          <a:prstGeom prst="roundRect">
            <a:avLst>
              <a:gd name="adj" fmla="val 10000"/>
            </a:avLst>
          </a:prstGeom>
          <a:solidFill>
            <a:srgbClr val="E3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645920"/>
            <a:ext cx="48920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1000"/>
              </a:spcAft>
            </a:pPr>
            <a:r>
              <a:rPr sz="1400" b="1">
                <a:solidFill>
                  <a:srgbClr val="12B886"/>
                </a:solidFill>
                <a:latin typeface="맑은 고딕"/>
                <a:ea typeface="맑은 고딕"/>
              </a:rPr>
              <a:t>이미 만들어 둔 것 (시연 가능)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>
                <a:solidFill>
                  <a:srgbClr val="171A2B"/>
                </a:solidFill>
                <a:latin typeface="맑은 고딕"/>
                <a:ea typeface="맑은 고딕"/>
              </a:rPr>
              <a:t>✓  관리 콘솔 8개 화면 — 대시보드·지식·Config·프롬프트·검색·운영·개선·API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>
                <a:solidFill>
                  <a:srgbClr val="171A2B"/>
                </a:solidFill>
                <a:latin typeface="맑은 고딕"/>
                <a:ea typeface="맑은 고딕"/>
              </a:rPr>
              <a:t>✓  ITCEN-API 19개 REST 엔드포인트 + Swagger 문서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>
                <a:solidFill>
                  <a:srgbClr val="171A2B"/>
                </a:solidFill>
                <a:latin typeface="맑은 고딕"/>
                <a:ea typeface="맑은 고딕"/>
              </a:rPr>
              <a:t>✓  RAG 파이프라인 (추출→전처리→가공→적재) 및 Index 동기화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>
                <a:solidFill>
                  <a:srgbClr val="171A2B"/>
                </a:solidFill>
                <a:latin typeface="맑은 고딕"/>
                <a:ea typeface="맑은 고딕"/>
              </a:rPr>
              <a:t>✓  bot_type 형상관리 — 버전·롤백·즉시 배포</a:t>
            </a:r>
          </a:p>
          <a:p>
            <a:pPr algn="l">
              <a:lnSpc>
                <a:spcPct val="114000"/>
              </a:lnSpc>
              <a:spcAft>
                <a:spcPts val="1000"/>
              </a:spcAft>
            </a:pPr>
            <a:r>
              <a:rPr sz="1150" b="0">
                <a:solidFill>
                  <a:srgbClr val="171A2B"/>
                </a:solidFill>
                <a:latin typeface="맑은 고딕"/>
                <a:ea typeface="맑은 고딕"/>
              </a:rPr>
              <a:t>✓  운영 루프 — 로그·피드백 회귀, 개선 큐, 멈춘 작업(4h+) 정리</a:t>
            </a:r>
          </a:p>
          <a:p>
            <a:pPr algn="l">
              <a:lnSpc>
                <a:spcPct val="114000"/>
              </a:lnSpc>
            </a:pPr>
            <a:r>
              <a:rPr sz="1200" b="1">
                <a:solidFill>
                  <a:srgbClr val="12B886"/>
                </a:solidFill>
                <a:latin typeface="맑은 고딕"/>
                <a:ea typeface="맑은 고딕"/>
              </a:rPr>
              <a:t>→ 발표장에서 라이브 데모로 확인시켜 드립니다.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463040"/>
            <a:ext cx="5431536" cy="40233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8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645920"/>
            <a:ext cx="49377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1000"/>
              </a:spcAft>
            </a:pPr>
            <a:r>
              <a:rPr sz="1400" b="1">
                <a:solidFill>
                  <a:srgbClr val="171A2B"/>
                </a:solidFill>
                <a:latin typeface="맑은 고딕"/>
                <a:ea typeface="맑은 고딕"/>
              </a:rPr>
              <a:t>다음 단계를 위해 필요한 것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>
                <a:solidFill>
                  <a:srgbClr val="4A4F66"/>
                </a:solidFill>
                <a:latin typeface="맑은 고딕"/>
                <a:ea typeface="맑은 고딕"/>
              </a:rPr>
              <a:t>·  TF 4~6인 (기획 1 · 백엔드 2 · 프런트 1 · AI 1) — 6개월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>
                <a:solidFill>
                  <a:srgbClr val="4A4F66"/>
                </a:solidFill>
                <a:latin typeface="맑은 고딕"/>
                <a:ea typeface="맑은 고딕"/>
              </a:rPr>
              <a:t>·  파일럿 고객 1~2사 연결 (그룹 영업망 협조)</a:t>
            </a:r>
          </a:p>
          <a:p>
            <a:pPr algn="l">
              <a:lnSpc>
                <a:spcPct val="114000"/>
              </a:lnSpc>
              <a:spcAft>
                <a:spcPts val="1000"/>
              </a:spcAft>
            </a:pPr>
            <a:r>
              <a:rPr sz="1150" b="0">
                <a:solidFill>
                  <a:srgbClr val="4A4F66"/>
                </a:solidFill>
                <a:latin typeface="맑은 고딕"/>
                <a:ea typeface="맑은 고딕"/>
              </a:rPr>
              <a:t>·  엔터프라이즈 요건 보강 예산 (보안 심사·인증 대응)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00" b="1">
                <a:solidFill>
                  <a:srgbClr val="4B5CFF"/>
                </a:solidFill>
                <a:latin typeface="맑은 고딕"/>
                <a:ea typeface="맑은 고딕"/>
              </a:rPr>
              <a:t>6개월 목표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50" b="0">
                <a:solidFill>
                  <a:srgbClr val="4A4F66"/>
                </a:solidFill>
                <a:latin typeface="맑은 고딕"/>
                <a:ea typeface="맑은 고딕"/>
              </a:rPr>
              <a:t>·  유상 파일럿 1건 계약 · 운영 데이터로 개선 효과 정량 입증</a:t>
            </a:r>
          </a:p>
          <a:p>
            <a:pPr algn="l">
              <a:lnSpc>
                <a:spcPct val="114000"/>
              </a:lnSpc>
            </a:pPr>
            <a:r>
              <a:rPr sz="1150" b="0">
                <a:solidFill>
                  <a:srgbClr val="4A4F66"/>
                </a:solidFill>
                <a:latin typeface="맑은 고딕"/>
                <a:ea typeface="맑은 고딕"/>
              </a:rPr>
              <a:t>·  제품화 v1.0 백로그 확정 · 가격표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7607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200" b="1">
                <a:solidFill>
                  <a:srgbClr val="171A2B"/>
                </a:solidFill>
                <a:latin typeface="맑은 고딕"/>
                <a:ea typeface="맑은 고딕"/>
              </a:rPr>
              <a:t>실행 의지: 본 제안서의 모든 화면·API는 제안팀이 직접 구현했습니다 — 선정 즉시, 다음 날부터 파일럿 준비에 들어갈 수 있습니다.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4206240"/>
            <a:ext cx="4572000" cy="4572000"/>
          </a:xfrm>
          <a:prstGeom prst="roundRect">
            <a:avLst>
              <a:gd name="adj" fmla="val 25000"/>
            </a:avLst>
          </a:prstGeom>
          <a:solidFill>
            <a:srgbClr val="1E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280160" y="-1645920"/>
            <a:ext cx="4389120" cy="4389120"/>
          </a:xfrm>
          <a:prstGeom prst="roundRect">
            <a:avLst>
              <a:gd name="adj" fmla="val 25000"/>
            </a:avLst>
          </a:prstGeom>
          <a:solidFill>
            <a:srgbClr val="1E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기업 AI를,</a:t>
            </a:r>
          </a:p>
          <a:p>
            <a:pPr algn="l">
              <a:lnSpc>
                <a:spcPct val="114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프로젝트가 아닌 </a:t>
            </a:r>
            <a:r>
              <a:rPr sz="4000" b="1">
                <a:solidFill>
                  <a:srgbClr val="8B7CFF"/>
                </a:solidFill>
                <a:latin typeface="맑은 고딕"/>
                <a:ea typeface="맑은 고딕"/>
              </a:rPr>
              <a:t>플랫폼</a:t>
            </a: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으로.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" y="3429000"/>
            <a:ext cx="2194560" cy="64008"/>
          </a:xfrm>
          <a:prstGeom prst="roundRect">
            <a:avLst>
              <a:gd name="adj" fmla="val 50000"/>
            </a:avLst>
          </a:prstGeom>
          <a:solidFill>
            <a:srgbClr val="4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3200400" cy="1234440"/>
          </a:xfrm>
          <a:prstGeom prst="roundRect">
            <a:avLst>
              <a:gd name="adj" fmla="val 10000"/>
            </a:avLst>
          </a:prstGeom>
          <a:solidFill>
            <a:srgbClr val="1E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11480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2400" b="1">
                <a:solidFill>
                  <a:srgbClr val="12B886"/>
                </a:solidFill>
                <a:latin typeface="맑은 고딕"/>
                <a:ea typeface="맑은 고딕"/>
              </a:rPr>
              <a:t>-52%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C7C9EC"/>
                </a:solidFill>
                <a:latin typeface="맑은 고딕"/>
                <a:ea typeface="맑은 고딕"/>
              </a:rPr>
              <a:t>신규 Agent 리드타임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3931920"/>
            <a:ext cx="3200400" cy="1234440"/>
          </a:xfrm>
          <a:prstGeom prst="roundRect">
            <a:avLst>
              <a:gd name="adj" fmla="val 10000"/>
            </a:avLst>
          </a:prstGeom>
          <a:solidFill>
            <a:srgbClr val="1E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411480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2400" b="1">
                <a:solidFill>
                  <a:srgbClr val="F59F00"/>
                </a:solidFill>
                <a:latin typeface="맑은 고딕"/>
                <a:ea typeface="맑은 고딕"/>
              </a:rPr>
              <a:t>-38%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C7C9EC"/>
                </a:solidFill>
                <a:latin typeface="맑은 고딕"/>
                <a:ea typeface="맑은 고딕"/>
              </a:rPr>
              <a:t>중복 Agent·운영비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6096" y="3931920"/>
            <a:ext cx="3200400" cy="1234440"/>
          </a:xfrm>
          <a:prstGeom prst="roundRect">
            <a:avLst>
              <a:gd name="adj" fmla="val 10000"/>
            </a:avLst>
          </a:prstGeom>
          <a:solidFill>
            <a:srgbClr val="1E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4696" y="411480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2400" b="1">
                <a:solidFill>
                  <a:srgbClr val="8B7CFF"/>
                </a:solidFill>
                <a:latin typeface="맑은 고딕"/>
                <a:ea typeface="맑은 고딕"/>
              </a:rPr>
              <a:t>선순환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C7C9EC"/>
                </a:solidFill>
                <a:latin typeface="맑은 고딕"/>
                <a:ea typeface="맑은 고딕"/>
              </a:rPr>
              <a:t>운영할수록 좋아지는 품질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300" b="1">
                <a:solidFill>
                  <a:srgbClr val="C7C9EC"/>
                </a:solidFill>
                <a:latin typeface="맑은 고딕"/>
                <a:ea typeface="맑은 고딕"/>
              </a:rPr>
              <a:t>One Console AI는 현장에서 발견한 문제로 시작해, 검증된 해결책을 거쳐, 아이티센의 다음 성장 동력이 되고자 합니다.</a:t>
            </a:r>
          </a:p>
          <a:p>
            <a:pPr algn="l">
              <a:lnSpc>
                <a:spcPct val="114000"/>
              </a:lnSpc>
            </a:pPr>
            <a:r>
              <a:rPr sz="1100" b="0">
                <a:solidFill>
                  <a:srgbClr val="8B90B5"/>
                </a:solidFill>
                <a:latin typeface="맑은 고딕"/>
                <a:ea typeface="맑은 고딕"/>
              </a:rPr>
              <a:t>감사합니다.  ·  라이브 데모: 콘솔 + Swagger UI 준비 완료  ·  ※ 효과 수치는 수행 경험 기반 추정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